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1" r:id="rId6"/>
    <p:sldId id="262" r:id="rId7"/>
    <p:sldId id="263" r:id="rId8"/>
    <p:sldId id="264"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6854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Laporan dibawakan oleh Project Manager (Muhammad Dzaki Ramadhan), maksimal 10 menit. Sumber isi: SRS Kedaiku v1.0 (draf), Requirement Document v1.1, dan Dokumen Perencanaan Bagian II (WBS dan Gantt).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Basis hitung (dari Kamus WBS, total 98 hari kerja tak termasuk UTS): rencana sampai akhir Mg 5 = fase 2 dan 3 (28 hari) + 7 hari fase 4 = 35 hari, ±36%. Realisasi = 28 hari + 40% dari 9 hari WBS 4.2 (SRS Bag. 1–4 selesai dari 10 bagian) = ±32%. Selisih 4 poin, di bawah batas 10 poin sehingga status Sesuai jadwal. Samakan angka dengan Gantt Chart (Excel) sebelum presentasi.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Kode WBS dan PIC mengikuti Kamus WBS (Dokumen Perencanaan Bag. 5.2): 4.1 Observasi lanjutan (5 hari) dan 4.2 Penyusunan SRS (9 hari), keduanya PIC System Analyst. Tugas 4.2 dipecah per bagian SRS agar progresnya terlihat. Tugas berstatus Revisi dibahas di slide Kendala dan risiko.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Hasil nyata minggu ini: draf SRS v1.0 dan diagram use case. Tautan vclass diisi setelah dokumen diunggah pada Minggu 6.</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Peran dan PIC mengikuti RD Bagian I dan Kamus WBS. Isi kolom Jam dengan jam kerja nyata tiap anggota; acuan ±8 jam per orang per minggu. Anggota tanpa paket kerja terjadwal ditulis dengan alasannya.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Rencana pemantauan (Dokumen Perencanaan Bag. 7): pertemuan klien dijadwalkan pada akhir setiap fase dan demo sprint, di luar jam operasional 10.00–16.00. Bila minggu ini ada kontak lain dengan klien, tambahkan di slide ini.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ID risiko R-01 sampai R-07 mengikuti Dokumen Perencanaan Bag. 4.4; risiko baru diberi ID R-08 dan R-09 dan perlu ditambahkan ke daftar risiko. Tugas berstatus Revisi (4.1) tercermin di R-09.</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Tanggal target per tugas adalah usulan tim di dalam jendela WBS 4.2 (selesai 08-11-2026). Sesuaikan dengan Gantt Chart bila berbeda.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8233A"/>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84920"/>
            <a:ext cx="10566400" cy="4460280"/>
          </a:xfrm>
          <a:prstGeom prst="rect">
            <a:avLst/>
          </a:prstGeom>
          <a:noFill/>
          <a:ln/>
        </p:spPr>
        <p:txBody>
          <a:bodyPr wrap="square" lIns="0" tIns="0" rIns="0" bIns="0" rtlCol="0" anchor="t"/>
          <a:lstStyle>
            <a:lvl1pPr marL="0" indent="0" algn="l">
              <a:lnSpc>
                <a:spcPct val="140000"/>
              </a:lnSpc>
              <a:buNone/>
              <a:defRPr lang="en-US" sz="1600" dirty="0">
                <a:solidFill>
                  <a:srgbClr val="18233A"/>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8233A"/>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84920"/>
            <a:ext cx="10566400" cy="4460280"/>
          </a:xfrm>
          <a:prstGeom prst="rect">
            <a:avLst/>
          </a:prstGeom>
          <a:noFill/>
          <a:ln/>
        </p:spPr>
        <p:txBody>
          <a:bodyPr wrap="square" lIns="0" tIns="0" rIns="0" bIns="0" rtlCol="0" anchor="t"/>
          <a:lstStyle>
            <a:lvl1pPr marL="0" indent="0" algn="l">
              <a:lnSpc>
                <a:spcPct val="140000"/>
              </a:lnSpc>
              <a:buNone/>
              <a:defRPr lang="en-US" sz="1600" dirty="0">
                <a:solidFill>
                  <a:srgbClr val="18233A"/>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3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9DB8E8"/>
                </a:solidFill>
                <a:latin typeface="Public Sans" pitchFamily="34" charset="0"/>
                <a:ea typeface="Public Sans" pitchFamily="34" charset="-122"/>
                <a:cs typeface="Public Sans" pitchFamily="34" charset="-120"/>
              </a:rPr>
              <a:t>PENGELOLAAN PROYEK SISTEM INFORMASI</a:t>
            </a:r>
            <a:endParaRPr lang="en-US" sz="1400" dirty="0"/>
          </a:p>
        </p:txBody>
      </p:sp>
      <p:sp>
        <p:nvSpPr>
          <p:cNvPr id="3" name="Text 1"/>
          <p:cNvSpPr>
            <a:spLocks noGrp="1"/>
          </p:cNvSpPr>
          <p:nvPr>
            <p:ph type="title"/>
          </p:nvPr>
        </p:nvSpPr>
        <p:spPr>
          <a:xfrm>
            <a:off x="812800" y="1214090"/>
            <a:ext cx="10883392" cy="1561505"/>
          </a:xfrm>
          <a:prstGeom prst="rect">
            <a:avLst/>
          </a:prstGeom>
          <a:noFill/>
          <a:ln/>
        </p:spPr>
        <p:txBody>
          <a:bodyPr wrap="square" lIns="0" tIns="0" rIns="0" bIns="0" rtlCol="0" anchor="t">
            <a:normAutofit/>
          </a:bodyPr>
          <a:lstStyle/>
          <a:p>
            <a:pPr marL="0" indent="0" algn="l">
              <a:lnSpc>
                <a:spcPts val="6048"/>
              </a:lnSpc>
              <a:buNone/>
            </a:pPr>
            <a:r>
              <a:rPr lang="en-US" sz="5600" b="1" i="0" dirty="0">
                <a:solidFill>
                  <a:srgbClr val="F6F5F1"/>
                </a:solidFill>
                <a:latin typeface="Domine" pitchFamily="18" charset="0"/>
                <a:ea typeface="Domine" pitchFamily="18" charset="-122"/>
                <a:cs typeface="Domine" pitchFamily="18" charset="-120"/>
              </a:rPr>
              <a:t>Laporan Progres</a:t>
            </a:r>
            <a:endParaRPr lang="en-US" sz="5600" dirty="0"/>
          </a:p>
          <a:p>
            <a:pPr marL="0" indent="0" algn="l">
              <a:lnSpc>
                <a:spcPts val="6048"/>
              </a:lnSpc>
              <a:buNone/>
            </a:pPr>
            <a:r>
              <a:rPr lang="en-US" sz="5600" b="1" i="0" dirty="0">
                <a:solidFill>
                  <a:srgbClr val="F6F5F1"/>
                </a:solidFill>
                <a:latin typeface="Domine" pitchFamily="18" charset="0"/>
                <a:ea typeface="Domine" pitchFamily="18" charset="-122"/>
                <a:cs typeface="Domine" pitchFamily="18" charset="-120"/>
              </a:rPr>
              <a:t>Minggu ke-5</a:t>
            </a:r>
            <a:endParaRPr lang="en-US" sz="5600" dirty="0"/>
          </a:p>
        </p:txBody>
      </p:sp>
      <p:sp>
        <p:nvSpPr>
          <p:cNvPr id="4" name="Text 2"/>
          <p:cNvSpPr/>
          <p:nvPr/>
        </p:nvSpPr>
        <p:spPr>
          <a:xfrm>
            <a:off x="812800" y="2902595"/>
            <a:ext cx="10883392"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9D3E3"/>
                </a:solidFill>
                <a:latin typeface="Public Sans" pitchFamily="34" charset="0"/>
                <a:ea typeface="Public Sans" pitchFamily="34" charset="-122"/>
                <a:cs typeface="Public Sans" pitchFamily="34" charset="-120"/>
              </a:rPr>
              <a:t>Fase 3 · Analisis Kebutuhan (Mg 5–6, 26 Okt – 8 Nov 2026)</a:t>
            </a:r>
            <a:endParaRPr lang="en-US" sz="2000" dirty="0"/>
          </a:p>
        </p:txBody>
      </p:sp>
      <p:sp>
        <p:nvSpPr>
          <p:cNvPr id="5" name="Shape 3"/>
          <p:cNvSpPr/>
          <p:nvPr/>
        </p:nvSpPr>
        <p:spPr>
          <a:xfrm>
            <a:off x="812800" y="5337870"/>
            <a:ext cx="3386634" cy="0"/>
          </a:xfrm>
          <a:prstGeom prst="line">
            <a:avLst/>
          </a:prstGeom>
          <a:noFill/>
          <a:ln w="12700">
            <a:solidFill>
              <a:srgbClr val="3E5378"/>
            </a:solidFill>
            <a:prstDash val="solid"/>
          </a:ln>
        </p:spPr>
      </p:sp>
      <p:sp>
        <p:nvSpPr>
          <p:cNvPr id="6" name="Text 4"/>
          <p:cNvSpPr/>
          <p:nvPr/>
        </p:nvSpPr>
        <p:spPr>
          <a:xfrm>
            <a:off x="812800" y="5496620"/>
            <a:ext cx="34882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B8E8"/>
                </a:solidFill>
                <a:latin typeface="Public Sans" pitchFamily="34" charset="0"/>
                <a:ea typeface="Public Sans" pitchFamily="34" charset="-122"/>
                <a:cs typeface="Public Sans" pitchFamily="34" charset="-120"/>
              </a:rPr>
              <a:t>Kelompok · Kelas</a:t>
            </a:r>
            <a:endParaRPr lang="en-US" sz="1200" dirty="0"/>
          </a:p>
        </p:txBody>
      </p:sp>
      <p:sp>
        <p:nvSpPr>
          <p:cNvPr id="7" name="Text 5"/>
          <p:cNvSpPr/>
          <p:nvPr/>
        </p:nvSpPr>
        <p:spPr>
          <a:xfrm>
            <a:off x="812800" y="5760740"/>
            <a:ext cx="348823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6F5F1"/>
                </a:solidFill>
                <a:latin typeface="Public Sans" pitchFamily="34" charset="0"/>
                <a:ea typeface="Public Sans" pitchFamily="34" charset="-122"/>
                <a:cs typeface="Public Sans" pitchFamily="34" charset="-120"/>
              </a:rPr>
              <a:t>Kelompok 5 · 4KA22</a:t>
            </a:r>
            <a:endParaRPr lang="en-US" sz="1600" dirty="0"/>
          </a:p>
        </p:txBody>
      </p:sp>
      <p:sp>
        <p:nvSpPr>
          <p:cNvPr id="8" name="Shape 6"/>
          <p:cNvSpPr/>
          <p:nvPr/>
        </p:nvSpPr>
        <p:spPr>
          <a:xfrm>
            <a:off x="4402634" y="5337870"/>
            <a:ext cx="3386683" cy="0"/>
          </a:xfrm>
          <a:prstGeom prst="line">
            <a:avLst/>
          </a:prstGeom>
          <a:noFill/>
          <a:ln w="12700">
            <a:solidFill>
              <a:srgbClr val="3E5378"/>
            </a:solidFill>
            <a:prstDash val="solid"/>
          </a:ln>
        </p:spPr>
      </p:sp>
      <p:sp>
        <p:nvSpPr>
          <p:cNvPr id="9" name="Text 7"/>
          <p:cNvSpPr/>
          <p:nvPr/>
        </p:nvSpPr>
        <p:spPr>
          <a:xfrm>
            <a:off x="4402634" y="5496620"/>
            <a:ext cx="348828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B8E8"/>
                </a:solidFill>
                <a:latin typeface="Public Sans" pitchFamily="34" charset="0"/>
                <a:ea typeface="Public Sans" pitchFamily="34" charset="-122"/>
                <a:cs typeface="Public Sans" pitchFamily="34" charset="-120"/>
              </a:rPr>
              <a:t>Proyek · Klien</a:t>
            </a:r>
            <a:endParaRPr lang="en-US" sz="1200" dirty="0"/>
          </a:p>
        </p:txBody>
      </p:sp>
      <p:sp>
        <p:nvSpPr>
          <p:cNvPr id="10" name="Text 8"/>
          <p:cNvSpPr/>
          <p:nvPr/>
        </p:nvSpPr>
        <p:spPr>
          <a:xfrm>
            <a:off x="4402634" y="5760740"/>
            <a:ext cx="3488284" cy="309860"/>
          </a:xfrm>
          <a:prstGeom prst="rect">
            <a:avLst/>
          </a:prstGeom>
          <a:noFill/>
          <a:ln/>
        </p:spPr>
        <p:txBody>
          <a:bodyPr wrap="square" lIns="0" tIns="0" rIns="0" bIns="0" rtlCol="0" anchor="t">
            <a:normAutofit fontScale="92500"/>
          </a:bodyPr>
          <a:lstStyle/>
          <a:p>
            <a:pPr marL="0" indent="0" algn="l">
              <a:lnSpc>
                <a:spcPts val="2240"/>
              </a:lnSpc>
              <a:buNone/>
            </a:pPr>
            <a:r>
              <a:rPr lang="en-US" sz="1600" b="1" dirty="0">
                <a:solidFill>
                  <a:srgbClr val="F6F5F1"/>
                </a:solidFill>
                <a:latin typeface="Public Sans" pitchFamily="34" charset="0"/>
                <a:ea typeface="Public Sans" pitchFamily="34" charset="-122"/>
                <a:cs typeface="Public Sans" pitchFamily="34" charset="-120"/>
              </a:rPr>
              <a:t>Kedaiku · Ibu Elsa </a:t>
            </a:r>
            <a:r>
              <a:rPr lang="en-US" sz="1600" b="1" dirty="0" err="1">
                <a:solidFill>
                  <a:srgbClr val="F6F5F1"/>
                </a:solidFill>
                <a:latin typeface="Public Sans" pitchFamily="34" charset="0"/>
                <a:ea typeface="Public Sans" pitchFamily="34" charset="-122"/>
                <a:cs typeface="Public Sans" pitchFamily="34" charset="-120"/>
              </a:rPr>
              <a:t>Sukya</a:t>
            </a:r>
            <a:r>
              <a:rPr lang="en-US" sz="1600" b="1" dirty="0">
                <a:solidFill>
                  <a:srgbClr val="F6F5F1"/>
                </a:solidFill>
                <a:latin typeface="Public Sans" pitchFamily="34" charset="0"/>
                <a:ea typeface="Public Sans" pitchFamily="34" charset="-122"/>
                <a:cs typeface="Public Sans" pitchFamily="34" charset="-120"/>
              </a:rPr>
              <a:t> W / Bapak </a:t>
            </a:r>
            <a:r>
              <a:rPr lang="en-US" sz="1600" b="1" dirty="0" err="1">
                <a:solidFill>
                  <a:srgbClr val="F6F5F1"/>
                </a:solidFill>
                <a:latin typeface="Public Sans" pitchFamily="34" charset="0"/>
                <a:ea typeface="Public Sans" pitchFamily="34" charset="-122"/>
                <a:cs typeface="Public Sans" pitchFamily="34" charset="-120"/>
              </a:rPr>
              <a:t>Rusmin</a:t>
            </a:r>
            <a:endParaRPr lang="en-US" sz="1600" dirty="0"/>
          </a:p>
        </p:txBody>
      </p:sp>
      <p:sp>
        <p:nvSpPr>
          <p:cNvPr id="11" name="Shape 9"/>
          <p:cNvSpPr/>
          <p:nvPr/>
        </p:nvSpPr>
        <p:spPr>
          <a:xfrm>
            <a:off x="7992517" y="5337870"/>
            <a:ext cx="3386634" cy="0"/>
          </a:xfrm>
          <a:prstGeom prst="line">
            <a:avLst/>
          </a:prstGeom>
          <a:noFill/>
          <a:ln w="12700">
            <a:solidFill>
              <a:srgbClr val="3E5378"/>
            </a:solidFill>
            <a:prstDash val="solid"/>
          </a:ln>
        </p:spPr>
      </p:sp>
      <p:sp>
        <p:nvSpPr>
          <p:cNvPr id="12" name="Text 10"/>
          <p:cNvSpPr/>
          <p:nvPr/>
        </p:nvSpPr>
        <p:spPr>
          <a:xfrm>
            <a:off x="7992517" y="5496620"/>
            <a:ext cx="34882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B8E8"/>
                </a:solidFill>
                <a:latin typeface="Public Sans" pitchFamily="34" charset="0"/>
                <a:ea typeface="Public Sans" pitchFamily="34" charset="-122"/>
                <a:cs typeface="Public Sans" pitchFamily="34" charset="-120"/>
              </a:rPr>
              <a:t>Pelapor · Tanggal</a:t>
            </a:r>
            <a:endParaRPr lang="en-US" sz="1200" dirty="0"/>
          </a:p>
        </p:txBody>
      </p:sp>
      <p:sp>
        <p:nvSpPr>
          <p:cNvPr id="13" name="Text 11"/>
          <p:cNvSpPr/>
          <p:nvPr/>
        </p:nvSpPr>
        <p:spPr>
          <a:xfrm>
            <a:off x="7992517" y="5760740"/>
            <a:ext cx="3488233" cy="309860"/>
          </a:xfrm>
          <a:prstGeom prst="rect">
            <a:avLst/>
          </a:prstGeom>
          <a:noFill/>
          <a:ln/>
        </p:spPr>
        <p:txBody>
          <a:bodyPr wrap="square" lIns="0" tIns="0" rIns="0" bIns="0" rtlCol="0" anchor="t">
            <a:normAutofit/>
          </a:bodyPr>
          <a:lstStyle/>
          <a:p>
            <a:pPr marL="0" indent="0" algn="l">
              <a:lnSpc>
                <a:spcPts val="2240"/>
              </a:lnSpc>
              <a:buNone/>
            </a:pPr>
            <a:r>
              <a:rPr lang="en-US" sz="1600" b="1" dirty="0" err="1">
                <a:solidFill>
                  <a:srgbClr val="F6F5F1"/>
                </a:solidFill>
                <a:latin typeface="Public Sans" pitchFamily="34" charset="0"/>
                <a:ea typeface="Public Sans" pitchFamily="34" charset="-122"/>
                <a:cs typeface="Public Sans" pitchFamily="34" charset="-120"/>
              </a:rPr>
              <a:t>Kelompok</a:t>
            </a:r>
            <a:r>
              <a:rPr lang="en-US" sz="1600" b="1" dirty="0">
                <a:solidFill>
                  <a:srgbClr val="F6F5F1"/>
                </a:solidFill>
                <a:latin typeface="Public Sans" pitchFamily="34" charset="0"/>
                <a:ea typeface="Public Sans" pitchFamily="34" charset="-122"/>
                <a:cs typeface="Public Sans" pitchFamily="34" charset="-120"/>
              </a:rPr>
              <a:t> 5· 26-10-2026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8233A"/>
                </a:solidFill>
                <a:latin typeface="Domine" pitchFamily="18" charset="0"/>
                <a:ea typeface="Domine" pitchFamily="18" charset="-122"/>
                <a:cs typeface="Domine" pitchFamily="18" charset="-120"/>
              </a:rPr>
              <a:t>Status proyek minggu ini</a:t>
            </a:r>
            <a:endParaRPr lang="en-US" sz="3200" dirty="0"/>
          </a:p>
        </p:txBody>
      </p:sp>
      <p:sp>
        <p:nvSpPr>
          <p:cNvPr id="3" name="Shape 1"/>
          <p:cNvSpPr/>
          <p:nvPr/>
        </p:nvSpPr>
        <p:spPr>
          <a:xfrm>
            <a:off x="815975" y="1562695"/>
            <a:ext cx="3380284" cy="1545481"/>
          </a:xfrm>
          <a:prstGeom prst="roundRect">
            <a:avLst>
              <a:gd name="adj" fmla="val 6369"/>
            </a:avLst>
          </a:prstGeom>
          <a:solidFill>
            <a:srgbClr val="FFFFFF"/>
          </a:solidFill>
          <a:ln w="6350">
            <a:solidFill>
              <a:srgbClr val="D9DEE7"/>
            </a:solidFill>
            <a:prstDash val="solid"/>
          </a:ln>
        </p:spPr>
      </p:sp>
      <p:sp>
        <p:nvSpPr>
          <p:cNvPr id="4" name="Text 2"/>
          <p:cNvSpPr/>
          <p:nvPr/>
        </p:nvSpPr>
        <p:spPr>
          <a:xfrm>
            <a:off x="1022350" y="1769070"/>
            <a:ext cx="305656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C64C6"/>
                </a:solidFill>
                <a:latin typeface="Public Sans" pitchFamily="34" charset="0"/>
                <a:ea typeface="Public Sans" pitchFamily="34" charset="-122"/>
                <a:cs typeface="Public Sans" pitchFamily="34" charset="-120"/>
              </a:rPr>
              <a:t>STATUS KESELURUHAN</a:t>
            </a:r>
            <a:endParaRPr lang="en-US" sz="1200" dirty="0"/>
          </a:p>
        </p:txBody>
      </p:sp>
      <p:sp>
        <p:nvSpPr>
          <p:cNvPr id="5" name="Text 3"/>
          <p:cNvSpPr/>
          <p:nvPr/>
        </p:nvSpPr>
        <p:spPr>
          <a:xfrm>
            <a:off x="1022350" y="2083991"/>
            <a:ext cx="3056560" cy="7366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8233A"/>
                </a:solidFill>
                <a:latin typeface="Public Sans" pitchFamily="34" charset="0"/>
                <a:ea typeface="Public Sans" pitchFamily="34" charset="-122"/>
                <a:cs typeface="Public Sans" pitchFamily="34" charset="-120"/>
              </a:rPr>
              <a:t>Sesuai jadwal</a:t>
            </a:r>
            <a:endParaRPr lang="en-US" sz="2000" dirty="0"/>
          </a:p>
        </p:txBody>
      </p:sp>
      <p:sp>
        <p:nvSpPr>
          <p:cNvPr id="6" name="Shape 4"/>
          <p:cNvSpPr/>
          <p:nvPr/>
        </p:nvSpPr>
        <p:spPr>
          <a:xfrm>
            <a:off x="4405809" y="1562695"/>
            <a:ext cx="3380333" cy="1545481"/>
          </a:xfrm>
          <a:prstGeom prst="roundRect">
            <a:avLst>
              <a:gd name="adj" fmla="val 6369"/>
            </a:avLst>
          </a:prstGeom>
          <a:solidFill>
            <a:srgbClr val="FFFFFF"/>
          </a:solidFill>
          <a:ln w="6350">
            <a:solidFill>
              <a:srgbClr val="D9DEE7"/>
            </a:solidFill>
            <a:prstDash val="solid"/>
          </a:ln>
        </p:spPr>
      </p:sp>
      <p:sp>
        <p:nvSpPr>
          <p:cNvPr id="7" name="Text 5"/>
          <p:cNvSpPr/>
          <p:nvPr/>
        </p:nvSpPr>
        <p:spPr>
          <a:xfrm>
            <a:off x="4612184" y="1769070"/>
            <a:ext cx="305661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C64C6"/>
                </a:solidFill>
                <a:latin typeface="Public Sans" pitchFamily="34" charset="0"/>
                <a:ea typeface="Public Sans" pitchFamily="34" charset="-122"/>
                <a:cs typeface="Public Sans" pitchFamily="34" charset="-120"/>
              </a:rPr>
              <a:t>PROGRES RENCANA</a:t>
            </a:r>
            <a:endParaRPr lang="en-US" sz="1200" dirty="0"/>
          </a:p>
        </p:txBody>
      </p:sp>
      <p:sp>
        <p:nvSpPr>
          <p:cNvPr id="8" name="Text 6"/>
          <p:cNvSpPr/>
          <p:nvPr/>
        </p:nvSpPr>
        <p:spPr>
          <a:xfrm>
            <a:off x="4612184" y="2083991"/>
            <a:ext cx="3056611" cy="52829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8233A"/>
                </a:solidFill>
                <a:latin typeface="Domine" pitchFamily="18" charset="0"/>
                <a:ea typeface="Domine" pitchFamily="18" charset="-122"/>
                <a:cs typeface="Domine" pitchFamily="18" charset="-120"/>
              </a:rPr>
              <a:t>50%</a:t>
            </a:r>
            <a:endParaRPr lang="en-US" sz="3600" dirty="0"/>
          </a:p>
        </p:txBody>
      </p:sp>
      <p:sp>
        <p:nvSpPr>
          <p:cNvPr id="9" name="Text 7"/>
          <p:cNvSpPr/>
          <p:nvPr/>
        </p:nvSpPr>
        <p:spPr>
          <a:xfrm>
            <a:off x="4612184" y="2688481"/>
            <a:ext cx="30566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5"/>
                </a:solidFill>
                <a:latin typeface="Public Sans" pitchFamily="34" charset="0"/>
                <a:ea typeface="Public Sans" pitchFamily="34" charset="-122"/>
                <a:cs typeface="Public Sans" pitchFamily="34" charset="-120"/>
              </a:rPr>
              <a:t>target kumulatif di Gantt Chart</a:t>
            </a:r>
            <a:endParaRPr lang="en-US" sz="1200" dirty="0"/>
          </a:p>
        </p:txBody>
      </p:sp>
      <p:sp>
        <p:nvSpPr>
          <p:cNvPr id="10" name="Shape 8"/>
          <p:cNvSpPr/>
          <p:nvPr/>
        </p:nvSpPr>
        <p:spPr>
          <a:xfrm>
            <a:off x="7995692" y="1562695"/>
            <a:ext cx="3380284" cy="1545481"/>
          </a:xfrm>
          <a:prstGeom prst="roundRect">
            <a:avLst>
              <a:gd name="adj" fmla="val 6369"/>
            </a:avLst>
          </a:prstGeom>
          <a:solidFill>
            <a:srgbClr val="FFFFFF"/>
          </a:solidFill>
          <a:ln w="6350">
            <a:solidFill>
              <a:srgbClr val="D9DEE7"/>
            </a:solidFill>
            <a:prstDash val="solid"/>
          </a:ln>
        </p:spPr>
      </p:sp>
      <p:sp>
        <p:nvSpPr>
          <p:cNvPr id="11" name="Text 9"/>
          <p:cNvSpPr/>
          <p:nvPr/>
        </p:nvSpPr>
        <p:spPr>
          <a:xfrm>
            <a:off x="8202067" y="1769070"/>
            <a:ext cx="305656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C64C6"/>
                </a:solidFill>
                <a:latin typeface="Public Sans" pitchFamily="34" charset="0"/>
                <a:ea typeface="Public Sans" pitchFamily="34" charset="-122"/>
                <a:cs typeface="Public Sans" pitchFamily="34" charset="-120"/>
              </a:rPr>
              <a:t>PROGRES REALISASI</a:t>
            </a:r>
            <a:endParaRPr lang="en-US" sz="1200" dirty="0"/>
          </a:p>
        </p:txBody>
      </p:sp>
      <p:sp>
        <p:nvSpPr>
          <p:cNvPr id="12" name="Text 10"/>
          <p:cNvSpPr/>
          <p:nvPr/>
        </p:nvSpPr>
        <p:spPr>
          <a:xfrm>
            <a:off x="8202067" y="2083991"/>
            <a:ext cx="3056560" cy="52829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8233A"/>
                </a:solidFill>
                <a:latin typeface="Domine" pitchFamily="18" charset="0"/>
                <a:ea typeface="Domine" pitchFamily="18" charset="-122"/>
                <a:cs typeface="Domine" pitchFamily="18" charset="-120"/>
              </a:rPr>
              <a:t>45%</a:t>
            </a:r>
            <a:endParaRPr lang="en-US" sz="3600" dirty="0"/>
          </a:p>
        </p:txBody>
      </p:sp>
      <p:sp>
        <p:nvSpPr>
          <p:cNvPr id="13" name="Text 11"/>
          <p:cNvSpPr/>
          <p:nvPr/>
        </p:nvSpPr>
        <p:spPr>
          <a:xfrm>
            <a:off x="8202067" y="2688481"/>
            <a:ext cx="30565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5"/>
                </a:solidFill>
                <a:latin typeface="Public Sans" pitchFamily="34" charset="0"/>
                <a:ea typeface="Public Sans" pitchFamily="34" charset="-122"/>
                <a:cs typeface="Public Sans" pitchFamily="34" charset="-120"/>
              </a:rPr>
              <a:t>pekerjaan yang benar-benar selesai</a:t>
            </a:r>
            <a:endParaRPr lang="en-US" sz="1200" dirty="0"/>
          </a:p>
        </p:txBody>
      </p:sp>
      <p:sp>
        <p:nvSpPr>
          <p:cNvPr id="14" name="Text 12"/>
          <p:cNvSpPr/>
          <p:nvPr/>
        </p:nvSpPr>
        <p:spPr>
          <a:xfrm>
            <a:off x="812800" y="339075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B7385"/>
                </a:solidFill>
                <a:latin typeface="Public Sans" pitchFamily="34" charset="0"/>
                <a:ea typeface="Public Sans" pitchFamily="34" charset="-122"/>
                <a:cs typeface="Public Sans" pitchFamily="34" charset="-120"/>
              </a:rPr>
              <a:t>Posisi pada peta 7 fase</a:t>
            </a:r>
            <a:endParaRPr lang="en-US" sz="1200" dirty="0"/>
          </a:p>
        </p:txBody>
      </p:sp>
      <p:sp>
        <p:nvSpPr>
          <p:cNvPr id="15" name="Shape 13"/>
          <p:cNvSpPr/>
          <p:nvPr/>
        </p:nvSpPr>
        <p:spPr>
          <a:xfrm>
            <a:off x="812800" y="3705671"/>
            <a:ext cx="1444129" cy="723850"/>
          </a:xfrm>
          <a:prstGeom prst="roundRect">
            <a:avLst>
              <a:gd name="adj" fmla="val 10527"/>
            </a:avLst>
          </a:prstGeom>
          <a:solidFill>
            <a:srgbClr val="E9EEF5"/>
          </a:solidFill>
          <a:ln/>
        </p:spPr>
      </p:sp>
      <p:sp>
        <p:nvSpPr>
          <p:cNvPr id="16" name="Text 14"/>
          <p:cNvSpPr/>
          <p:nvPr/>
        </p:nvSpPr>
        <p:spPr>
          <a:xfrm>
            <a:off x="939800" y="3832671"/>
            <a:ext cx="124092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5"/>
                </a:solidFill>
                <a:latin typeface="Public Sans" pitchFamily="34" charset="0"/>
                <a:ea typeface="Public Sans" pitchFamily="34" charset="-122"/>
                <a:cs typeface="Public Sans" pitchFamily="34" charset="-120"/>
              </a:rPr>
              <a:t>Mg 1–2</a:t>
            </a:r>
            <a:endParaRPr lang="en-US" sz="1200" dirty="0"/>
          </a:p>
        </p:txBody>
      </p:sp>
      <p:sp>
        <p:nvSpPr>
          <p:cNvPr id="17" name="Text 15"/>
          <p:cNvSpPr/>
          <p:nvPr/>
        </p:nvSpPr>
        <p:spPr>
          <a:xfrm>
            <a:off x="939800" y="4071392"/>
            <a:ext cx="1240929"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8233A"/>
                </a:solidFill>
                <a:latin typeface="Public Sans" pitchFamily="34" charset="0"/>
                <a:ea typeface="Public Sans" pitchFamily="34" charset="-122"/>
                <a:cs typeface="Public Sans" pitchFamily="34" charset="-120"/>
              </a:rPr>
              <a:t>Definisi</a:t>
            </a:r>
            <a:endParaRPr lang="en-US" sz="1300" dirty="0"/>
          </a:p>
        </p:txBody>
      </p:sp>
      <p:sp>
        <p:nvSpPr>
          <p:cNvPr id="18" name="Shape 16"/>
          <p:cNvSpPr/>
          <p:nvPr/>
        </p:nvSpPr>
        <p:spPr>
          <a:xfrm>
            <a:off x="2333129" y="3705671"/>
            <a:ext cx="1444179" cy="723850"/>
          </a:xfrm>
          <a:prstGeom prst="roundRect">
            <a:avLst>
              <a:gd name="adj" fmla="val 10527"/>
            </a:avLst>
          </a:prstGeom>
          <a:solidFill>
            <a:srgbClr val="E9EEF5"/>
          </a:solidFill>
          <a:ln/>
        </p:spPr>
      </p:sp>
      <p:sp>
        <p:nvSpPr>
          <p:cNvPr id="19" name="Text 17"/>
          <p:cNvSpPr/>
          <p:nvPr/>
        </p:nvSpPr>
        <p:spPr>
          <a:xfrm>
            <a:off x="2460129" y="3832671"/>
            <a:ext cx="12409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5"/>
                </a:solidFill>
                <a:latin typeface="Public Sans" pitchFamily="34" charset="0"/>
                <a:ea typeface="Public Sans" pitchFamily="34" charset="-122"/>
                <a:cs typeface="Public Sans" pitchFamily="34" charset="-120"/>
              </a:rPr>
              <a:t>Mg 3–4</a:t>
            </a:r>
            <a:endParaRPr lang="en-US" sz="1200" dirty="0"/>
          </a:p>
        </p:txBody>
      </p:sp>
      <p:sp>
        <p:nvSpPr>
          <p:cNvPr id="20" name="Text 18"/>
          <p:cNvSpPr/>
          <p:nvPr/>
        </p:nvSpPr>
        <p:spPr>
          <a:xfrm>
            <a:off x="2460129" y="4071392"/>
            <a:ext cx="1240979"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8233A"/>
                </a:solidFill>
                <a:latin typeface="Public Sans" pitchFamily="34" charset="0"/>
                <a:ea typeface="Public Sans" pitchFamily="34" charset="-122"/>
                <a:cs typeface="Public Sans" pitchFamily="34" charset="-120"/>
              </a:rPr>
              <a:t>Perencanaan</a:t>
            </a:r>
            <a:endParaRPr lang="en-US" sz="1300" dirty="0"/>
          </a:p>
        </p:txBody>
      </p:sp>
      <p:sp>
        <p:nvSpPr>
          <p:cNvPr id="21" name="Shape 19"/>
          <p:cNvSpPr/>
          <p:nvPr/>
        </p:nvSpPr>
        <p:spPr>
          <a:xfrm>
            <a:off x="3853507" y="3705671"/>
            <a:ext cx="1444179" cy="723850"/>
          </a:xfrm>
          <a:prstGeom prst="roundRect">
            <a:avLst>
              <a:gd name="adj" fmla="val 10527"/>
            </a:avLst>
          </a:prstGeom>
          <a:solidFill>
            <a:srgbClr val="2C64C6"/>
          </a:solidFill>
          <a:ln/>
        </p:spPr>
      </p:sp>
      <p:sp>
        <p:nvSpPr>
          <p:cNvPr id="22" name="Text 20"/>
          <p:cNvSpPr/>
          <p:nvPr/>
        </p:nvSpPr>
        <p:spPr>
          <a:xfrm>
            <a:off x="3980507" y="3832671"/>
            <a:ext cx="12409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CE7F8"/>
                </a:solidFill>
                <a:latin typeface="Public Sans" pitchFamily="34" charset="0"/>
                <a:ea typeface="Public Sans" pitchFamily="34" charset="-122"/>
                <a:cs typeface="Public Sans" pitchFamily="34" charset="-120"/>
              </a:rPr>
              <a:t>Mg 5–6 · kini</a:t>
            </a:r>
            <a:endParaRPr lang="en-US" sz="1200" dirty="0"/>
          </a:p>
        </p:txBody>
      </p:sp>
      <p:sp>
        <p:nvSpPr>
          <p:cNvPr id="23" name="Text 21"/>
          <p:cNvSpPr/>
          <p:nvPr/>
        </p:nvSpPr>
        <p:spPr>
          <a:xfrm>
            <a:off x="3980507" y="4071392"/>
            <a:ext cx="1240979"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FFF"/>
                </a:solidFill>
                <a:latin typeface="Public Sans" pitchFamily="34" charset="0"/>
                <a:ea typeface="Public Sans" pitchFamily="34" charset="-122"/>
                <a:cs typeface="Public Sans" pitchFamily="34" charset="-120"/>
              </a:rPr>
              <a:t>Analisis</a:t>
            </a:r>
            <a:endParaRPr lang="en-US" sz="1300" dirty="0"/>
          </a:p>
        </p:txBody>
      </p:sp>
      <p:sp>
        <p:nvSpPr>
          <p:cNvPr id="24" name="Shape 22"/>
          <p:cNvSpPr/>
          <p:nvPr/>
        </p:nvSpPr>
        <p:spPr>
          <a:xfrm>
            <a:off x="5373886" y="3705671"/>
            <a:ext cx="1444179" cy="723850"/>
          </a:xfrm>
          <a:prstGeom prst="roundRect">
            <a:avLst>
              <a:gd name="adj" fmla="val 10527"/>
            </a:avLst>
          </a:prstGeom>
          <a:solidFill>
            <a:srgbClr val="E9EEF5"/>
          </a:solidFill>
          <a:ln/>
        </p:spPr>
      </p:sp>
      <p:sp>
        <p:nvSpPr>
          <p:cNvPr id="25" name="Text 23"/>
          <p:cNvSpPr/>
          <p:nvPr/>
        </p:nvSpPr>
        <p:spPr>
          <a:xfrm>
            <a:off x="5500886" y="3832671"/>
            <a:ext cx="12409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5"/>
                </a:solidFill>
                <a:latin typeface="Public Sans" pitchFamily="34" charset="0"/>
                <a:ea typeface="Public Sans" pitchFamily="34" charset="-122"/>
                <a:cs typeface="Public Sans" pitchFamily="34" charset="-120"/>
              </a:rPr>
              <a:t>Mg 7–8</a:t>
            </a:r>
            <a:endParaRPr lang="en-US" sz="1200" dirty="0"/>
          </a:p>
        </p:txBody>
      </p:sp>
      <p:sp>
        <p:nvSpPr>
          <p:cNvPr id="26" name="Text 24"/>
          <p:cNvSpPr/>
          <p:nvPr/>
        </p:nvSpPr>
        <p:spPr>
          <a:xfrm>
            <a:off x="5500886" y="4071392"/>
            <a:ext cx="1240979"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8233A"/>
                </a:solidFill>
                <a:latin typeface="Public Sans" pitchFamily="34" charset="0"/>
                <a:ea typeface="Public Sans" pitchFamily="34" charset="-122"/>
                <a:cs typeface="Public Sans" pitchFamily="34" charset="-120"/>
              </a:rPr>
              <a:t>Desain</a:t>
            </a:r>
            <a:endParaRPr lang="en-US" sz="1300" dirty="0"/>
          </a:p>
        </p:txBody>
      </p:sp>
      <p:sp>
        <p:nvSpPr>
          <p:cNvPr id="27" name="Shape 25"/>
          <p:cNvSpPr/>
          <p:nvPr/>
        </p:nvSpPr>
        <p:spPr>
          <a:xfrm>
            <a:off x="6894264" y="3705671"/>
            <a:ext cx="1444179" cy="723850"/>
          </a:xfrm>
          <a:prstGeom prst="roundRect">
            <a:avLst>
              <a:gd name="adj" fmla="val 10527"/>
            </a:avLst>
          </a:prstGeom>
          <a:solidFill>
            <a:srgbClr val="E9EEF5"/>
          </a:solidFill>
          <a:ln/>
        </p:spPr>
      </p:sp>
      <p:sp>
        <p:nvSpPr>
          <p:cNvPr id="28" name="Text 26"/>
          <p:cNvSpPr/>
          <p:nvPr/>
        </p:nvSpPr>
        <p:spPr>
          <a:xfrm>
            <a:off x="7021264" y="3832671"/>
            <a:ext cx="12409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5"/>
                </a:solidFill>
                <a:latin typeface="Public Sans" pitchFamily="34" charset="0"/>
                <a:ea typeface="Public Sans" pitchFamily="34" charset="-122"/>
                <a:cs typeface="Public Sans" pitchFamily="34" charset="-120"/>
              </a:rPr>
              <a:t>Mg 9–12</a:t>
            </a:r>
            <a:endParaRPr lang="en-US" sz="1200" dirty="0"/>
          </a:p>
        </p:txBody>
      </p:sp>
      <p:sp>
        <p:nvSpPr>
          <p:cNvPr id="29" name="Text 27"/>
          <p:cNvSpPr/>
          <p:nvPr/>
        </p:nvSpPr>
        <p:spPr>
          <a:xfrm>
            <a:off x="7021264" y="4071392"/>
            <a:ext cx="1240979"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8233A"/>
                </a:solidFill>
                <a:latin typeface="Public Sans" pitchFamily="34" charset="0"/>
                <a:ea typeface="Public Sans" pitchFamily="34" charset="-122"/>
                <a:cs typeface="Public Sans" pitchFamily="34" charset="-120"/>
              </a:rPr>
              <a:t>Pemrograman</a:t>
            </a:r>
            <a:endParaRPr lang="en-US" sz="1300" dirty="0"/>
          </a:p>
        </p:txBody>
      </p:sp>
      <p:sp>
        <p:nvSpPr>
          <p:cNvPr id="30" name="Shape 28"/>
          <p:cNvSpPr/>
          <p:nvPr/>
        </p:nvSpPr>
        <p:spPr>
          <a:xfrm>
            <a:off x="8414643" y="3705671"/>
            <a:ext cx="1444179" cy="723850"/>
          </a:xfrm>
          <a:prstGeom prst="roundRect">
            <a:avLst>
              <a:gd name="adj" fmla="val 10527"/>
            </a:avLst>
          </a:prstGeom>
          <a:solidFill>
            <a:srgbClr val="E9EEF5"/>
          </a:solidFill>
          <a:ln/>
        </p:spPr>
      </p:sp>
      <p:sp>
        <p:nvSpPr>
          <p:cNvPr id="31" name="Text 29"/>
          <p:cNvSpPr/>
          <p:nvPr/>
        </p:nvSpPr>
        <p:spPr>
          <a:xfrm>
            <a:off x="8541643" y="3832671"/>
            <a:ext cx="12409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5"/>
                </a:solidFill>
                <a:latin typeface="Public Sans" pitchFamily="34" charset="0"/>
                <a:ea typeface="Public Sans" pitchFamily="34" charset="-122"/>
                <a:cs typeface="Public Sans" pitchFamily="34" charset="-120"/>
              </a:rPr>
              <a:t>Mg 13</a:t>
            </a:r>
            <a:endParaRPr lang="en-US" sz="1200" dirty="0"/>
          </a:p>
        </p:txBody>
      </p:sp>
      <p:sp>
        <p:nvSpPr>
          <p:cNvPr id="32" name="Text 30"/>
          <p:cNvSpPr/>
          <p:nvPr/>
        </p:nvSpPr>
        <p:spPr>
          <a:xfrm>
            <a:off x="8541643" y="4071392"/>
            <a:ext cx="1240979"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8233A"/>
                </a:solidFill>
                <a:latin typeface="Public Sans" pitchFamily="34" charset="0"/>
                <a:ea typeface="Public Sans" pitchFamily="34" charset="-122"/>
                <a:cs typeface="Public Sans" pitchFamily="34" charset="-120"/>
              </a:rPr>
              <a:t>Pengujian</a:t>
            </a:r>
            <a:endParaRPr lang="en-US" sz="1300" dirty="0"/>
          </a:p>
        </p:txBody>
      </p:sp>
      <p:sp>
        <p:nvSpPr>
          <p:cNvPr id="33" name="Shape 31"/>
          <p:cNvSpPr/>
          <p:nvPr/>
        </p:nvSpPr>
        <p:spPr>
          <a:xfrm>
            <a:off x="9935021" y="3705671"/>
            <a:ext cx="1444179" cy="723850"/>
          </a:xfrm>
          <a:prstGeom prst="roundRect">
            <a:avLst>
              <a:gd name="adj" fmla="val 10527"/>
            </a:avLst>
          </a:prstGeom>
          <a:solidFill>
            <a:srgbClr val="E9EEF5"/>
          </a:solidFill>
          <a:ln/>
        </p:spPr>
      </p:sp>
      <p:sp>
        <p:nvSpPr>
          <p:cNvPr id="34" name="Text 32"/>
          <p:cNvSpPr/>
          <p:nvPr/>
        </p:nvSpPr>
        <p:spPr>
          <a:xfrm>
            <a:off x="10062021" y="3832671"/>
            <a:ext cx="12409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5"/>
                </a:solidFill>
                <a:latin typeface="Public Sans" pitchFamily="34" charset="0"/>
                <a:ea typeface="Public Sans" pitchFamily="34" charset="-122"/>
                <a:cs typeface="Public Sans" pitchFamily="34" charset="-120"/>
              </a:rPr>
              <a:t>Mg 14–15</a:t>
            </a:r>
            <a:endParaRPr lang="en-US" sz="1200" dirty="0"/>
          </a:p>
        </p:txBody>
      </p:sp>
      <p:sp>
        <p:nvSpPr>
          <p:cNvPr id="35" name="Text 33"/>
          <p:cNvSpPr/>
          <p:nvPr/>
        </p:nvSpPr>
        <p:spPr>
          <a:xfrm>
            <a:off x="10062021" y="4071392"/>
            <a:ext cx="1240979"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8233A"/>
                </a:solidFill>
                <a:latin typeface="Public Sans" pitchFamily="34" charset="0"/>
                <a:ea typeface="Public Sans" pitchFamily="34" charset="-122"/>
                <a:cs typeface="Public Sans" pitchFamily="34" charset="-120"/>
              </a:rPr>
              <a:t>Penerapan</a:t>
            </a:r>
            <a:endParaRPr lang="en-US" sz="1300" dirty="0"/>
          </a:p>
        </p:txBody>
      </p:sp>
      <p:sp>
        <p:nvSpPr>
          <p:cNvPr id="36" name="Text 34"/>
          <p:cNvSpPr/>
          <p:nvPr/>
        </p:nvSpPr>
        <p:spPr>
          <a:xfrm>
            <a:off x="812800" y="4708922"/>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C4658"/>
                </a:solidFill>
                <a:latin typeface="Public Sans" pitchFamily="34" charset="0"/>
                <a:ea typeface="Public Sans" pitchFamily="34" charset="-122"/>
                <a:cs typeface="Public Sans" pitchFamily="34" charset="-120"/>
              </a:rPr>
              <a:t>Milestone berikutnya:</a:t>
            </a:r>
            <a:r>
              <a:rPr lang="en-US" sz="1500" dirty="0">
                <a:solidFill>
                  <a:srgbClr val="3C4658"/>
                </a:solidFill>
                <a:latin typeface="Public Sans" pitchFamily="34" charset="0"/>
                <a:ea typeface="Public Sans" pitchFamily="34" charset="-122"/>
                <a:cs typeface="Public Sans" pitchFamily="34" charset="-120"/>
              </a:rPr>
              <a:t> M3 SRS selesai · Minggu 6 (08-11) ·</a:t>
            </a:r>
            <a:endParaRPr lang="en-US" sz="1500" dirty="0"/>
          </a:p>
        </p:txBody>
      </p:sp>
      <p:sp>
        <p:nvSpPr>
          <p:cNvPr id="37" name="Text 35"/>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5"/>
                </a:solidFill>
                <a:latin typeface="Public Sans" pitchFamily="34" charset="0"/>
                <a:ea typeface="Public Sans" pitchFamily="34" charset="-122"/>
                <a:cs typeface="Public Sans" pitchFamily="34" charset="-120"/>
              </a:rPr>
              <a:t>Kelompok 5 · Laporan Progres Minggu 5</a:t>
            </a:r>
            <a:endParaRPr lang="en-US" sz="1200" dirty="0"/>
          </a:p>
        </p:txBody>
      </p:sp>
      <p:sp>
        <p:nvSpPr>
          <p:cNvPr id="38" name="Text 3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5"/>
                </a:solidFill>
                <a:latin typeface="Public Sans" pitchFamily="34" charset="0"/>
                <a:ea typeface="Public Sans" pitchFamily="34" charset="-122"/>
                <a:cs typeface="Public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8233A"/>
                </a:solidFill>
                <a:latin typeface="Domine" pitchFamily="18" charset="0"/>
                <a:ea typeface="Domine" pitchFamily="18" charset="-122"/>
                <a:cs typeface="Domine" pitchFamily="18" charset="-120"/>
              </a:rPr>
              <a:t>Rencana vs realisasi minggu ini</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69857785"/>
              </p:ext>
            </p:extLst>
          </p:nvPr>
        </p:nvGraphicFramePr>
        <p:xfrm>
          <a:off x="825500" y="1521420"/>
          <a:ext cx="10553700" cy="3508517"/>
        </p:xfrm>
        <a:graphic>
          <a:graphicData uri="http://schemas.openxmlformats.org/drawingml/2006/table">
            <a:tbl>
              <a:tblPr/>
              <a:tblGrid>
                <a:gridCol w="1160907">
                  <a:extLst>
                    <a:ext uri="{9D8B030D-6E8A-4147-A177-3AD203B41FA5}">
                      <a16:colId xmlns:a16="http://schemas.microsoft.com/office/drawing/2014/main" val="20000"/>
                    </a:ext>
                  </a:extLst>
                </a:gridCol>
                <a:gridCol w="3060573">
                  <a:extLst>
                    <a:ext uri="{9D8B030D-6E8A-4147-A177-3AD203B41FA5}">
                      <a16:colId xmlns:a16="http://schemas.microsoft.com/office/drawing/2014/main" val="20001"/>
                    </a:ext>
                  </a:extLst>
                </a:gridCol>
                <a:gridCol w="1477518">
                  <a:extLst>
                    <a:ext uri="{9D8B030D-6E8A-4147-A177-3AD203B41FA5}">
                      <a16:colId xmlns:a16="http://schemas.microsoft.com/office/drawing/2014/main" val="20002"/>
                    </a:ext>
                  </a:extLst>
                </a:gridCol>
                <a:gridCol w="1266444">
                  <a:extLst>
                    <a:ext uri="{9D8B030D-6E8A-4147-A177-3AD203B41FA5}">
                      <a16:colId xmlns:a16="http://schemas.microsoft.com/office/drawing/2014/main" val="20003"/>
                    </a:ext>
                  </a:extLst>
                </a:gridCol>
                <a:gridCol w="1477518">
                  <a:extLst>
                    <a:ext uri="{9D8B030D-6E8A-4147-A177-3AD203B41FA5}">
                      <a16:colId xmlns:a16="http://schemas.microsoft.com/office/drawing/2014/main" val="20004"/>
                    </a:ext>
                  </a:extLst>
                </a:gridCol>
                <a:gridCol w="2110740">
                  <a:extLst>
                    <a:ext uri="{9D8B030D-6E8A-4147-A177-3AD203B41FA5}">
                      <a16:colId xmlns:a16="http://schemas.microsoft.com/office/drawing/2014/main" val="20005"/>
                    </a:ext>
                  </a:extLst>
                </a:gridCol>
              </a:tblGrid>
              <a:tr h="359321">
                <a:tc>
                  <a:txBody>
                    <a:bodyPr/>
                    <a:lstStyle/>
                    <a:p>
                      <a:pPr marL="0" indent="0">
                        <a:lnSpc>
                          <a:spcPts val="1820"/>
                        </a:lnSpc>
                        <a:buNone/>
                      </a:pPr>
                      <a:r>
                        <a:rPr lang="en-US" sz="1300" b="1" dirty="0">
                          <a:solidFill>
                            <a:srgbClr val="3C4658"/>
                          </a:solidFill>
                          <a:latin typeface="Public Sans" pitchFamily="34" charset="0"/>
                          <a:ea typeface="Public Sans" pitchFamily="34" charset="-122"/>
                          <a:cs typeface="Public Sans" pitchFamily="34" charset="-120"/>
                        </a:rPr>
                        <a:t>Kode WBS</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BABEC3"/>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EC3"/>
                      </a:solidFill>
                      <a:prstDash val="solid"/>
                      <a:round/>
                      <a:headEnd type="none" w="med" len="med"/>
                      <a:tailEnd type="none" w="med" len="med"/>
                    </a:lnB>
                    <a:solidFill>
                      <a:srgbClr val="E9EEF5"/>
                    </a:solidFill>
                  </a:tcPr>
                </a:tc>
                <a:tc>
                  <a:txBody>
                    <a:bodyPr/>
                    <a:lstStyle/>
                    <a:p>
                      <a:pPr marL="0" indent="0">
                        <a:lnSpc>
                          <a:spcPts val="1820"/>
                        </a:lnSpc>
                        <a:buNone/>
                      </a:pPr>
                      <a:r>
                        <a:rPr lang="en-US" sz="1300" b="1" dirty="0">
                          <a:solidFill>
                            <a:srgbClr val="3C4658"/>
                          </a:solidFill>
                          <a:latin typeface="Public Sans" pitchFamily="34" charset="0"/>
                          <a:ea typeface="Public Sans" pitchFamily="34" charset="-122"/>
                          <a:cs typeface="Public Sans" pitchFamily="34" charset="-120"/>
                        </a:rPr>
                        <a:t>Tugas</a:t>
                      </a:r>
                      <a:endParaRPr lang="en-US" sz="1300" dirty="0">
                        <a:latin typeface="Public Sans" charset="0"/>
                        <a:ea typeface="Public Sans" charset="0"/>
                        <a:cs typeface="Public Sans" charset="0"/>
                      </a:endParaRPr>
                    </a:p>
                  </a:txBody>
                  <a:tcPr marL="57785" marR="57785" marT="57785" marB="57785">
                    <a:lnL w="12700" cap="flat" cmpd="sng" algn="ctr">
                      <a:solidFill>
                        <a:srgbClr val="BABEC3"/>
                      </a:solidFill>
                      <a:prstDash val="solid"/>
                      <a:round/>
                      <a:headEnd type="none" w="med" len="med"/>
                      <a:tailEnd type="none" w="med" len="med"/>
                    </a:lnL>
                    <a:lnR w="12700" cap="flat" cmpd="sng" algn="ctr">
                      <a:solidFill>
                        <a:srgbClr val="BABEC3"/>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EC3"/>
                      </a:solidFill>
                      <a:prstDash val="solid"/>
                      <a:round/>
                      <a:headEnd type="none" w="med" len="med"/>
                      <a:tailEnd type="none" w="med" len="med"/>
                    </a:lnB>
                    <a:solidFill>
                      <a:srgbClr val="E9EEF5"/>
                    </a:solidFill>
                  </a:tcPr>
                </a:tc>
                <a:tc>
                  <a:txBody>
                    <a:bodyPr/>
                    <a:lstStyle/>
                    <a:p>
                      <a:pPr marL="0" indent="0">
                        <a:lnSpc>
                          <a:spcPts val="1820"/>
                        </a:lnSpc>
                        <a:buNone/>
                      </a:pPr>
                      <a:r>
                        <a:rPr lang="en-US" sz="1300" b="1" dirty="0">
                          <a:solidFill>
                            <a:srgbClr val="3C4658"/>
                          </a:solidFill>
                          <a:latin typeface="Public Sans" pitchFamily="34" charset="0"/>
                          <a:ea typeface="Public Sans" pitchFamily="34" charset="-122"/>
                          <a:cs typeface="Public Sans" pitchFamily="34" charset="-120"/>
                        </a:rPr>
                        <a:t>PIC</a:t>
                      </a:r>
                      <a:endParaRPr lang="en-US" sz="1300" dirty="0">
                        <a:latin typeface="Public Sans" charset="0"/>
                        <a:ea typeface="Public Sans" charset="0"/>
                        <a:cs typeface="Public Sans" charset="0"/>
                      </a:endParaRPr>
                    </a:p>
                  </a:txBody>
                  <a:tcPr marL="57785" marR="57785" marT="57785" marB="57785">
                    <a:lnL w="12700" cap="flat" cmpd="sng" algn="ctr">
                      <a:solidFill>
                        <a:srgbClr val="BABEC3"/>
                      </a:solidFill>
                      <a:prstDash val="solid"/>
                      <a:round/>
                      <a:headEnd type="none" w="med" len="med"/>
                      <a:tailEnd type="none" w="med" len="med"/>
                    </a:lnL>
                    <a:lnR w="12700" cap="flat" cmpd="sng" algn="ctr">
                      <a:solidFill>
                        <a:srgbClr val="BABEC3"/>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EC3"/>
                      </a:solidFill>
                      <a:prstDash val="solid"/>
                      <a:round/>
                      <a:headEnd type="none" w="med" len="med"/>
                      <a:tailEnd type="none" w="med" len="med"/>
                    </a:lnB>
                    <a:solidFill>
                      <a:srgbClr val="E9EEF5"/>
                    </a:solidFill>
                  </a:tcPr>
                </a:tc>
                <a:tc>
                  <a:txBody>
                    <a:bodyPr/>
                    <a:lstStyle/>
                    <a:p>
                      <a:pPr marL="0" indent="0">
                        <a:lnSpc>
                          <a:spcPts val="1820"/>
                        </a:lnSpc>
                        <a:buNone/>
                      </a:pPr>
                      <a:r>
                        <a:rPr lang="en-US" sz="1300" b="1" dirty="0">
                          <a:solidFill>
                            <a:srgbClr val="3C4658"/>
                          </a:solidFill>
                          <a:latin typeface="Public Sans" pitchFamily="34" charset="0"/>
                          <a:ea typeface="Public Sans" pitchFamily="34" charset="-122"/>
                          <a:cs typeface="Public Sans" pitchFamily="34" charset="-120"/>
                        </a:rPr>
                        <a:t>Target</a:t>
                      </a:r>
                      <a:endParaRPr lang="en-US" sz="1300" dirty="0">
                        <a:latin typeface="Public Sans" charset="0"/>
                        <a:ea typeface="Public Sans" charset="0"/>
                        <a:cs typeface="Public Sans" charset="0"/>
                      </a:endParaRPr>
                    </a:p>
                  </a:txBody>
                  <a:tcPr marL="57785" marR="57785" marT="57785" marB="57785">
                    <a:lnL w="12700" cap="flat" cmpd="sng" algn="ctr">
                      <a:solidFill>
                        <a:srgbClr val="BABEC3"/>
                      </a:solidFill>
                      <a:prstDash val="solid"/>
                      <a:round/>
                      <a:headEnd type="none" w="med" len="med"/>
                      <a:tailEnd type="none" w="med" len="med"/>
                    </a:lnL>
                    <a:lnR w="12700" cap="flat" cmpd="sng" algn="ctr">
                      <a:solidFill>
                        <a:srgbClr val="BABEC3"/>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EC3"/>
                      </a:solidFill>
                      <a:prstDash val="solid"/>
                      <a:round/>
                      <a:headEnd type="none" w="med" len="med"/>
                      <a:tailEnd type="none" w="med" len="med"/>
                    </a:lnB>
                    <a:solidFill>
                      <a:srgbClr val="E9EEF5"/>
                    </a:solidFill>
                  </a:tcPr>
                </a:tc>
                <a:tc>
                  <a:txBody>
                    <a:bodyPr/>
                    <a:lstStyle/>
                    <a:p>
                      <a:pPr marL="0" indent="0">
                        <a:lnSpc>
                          <a:spcPts val="1820"/>
                        </a:lnSpc>
                        <a:buNone/>
                      </a:pPr>
                      <a:r>
                        <a:rPr lang="en-US" sz="1300" b="1" dirty="0">
                          <a:solidFill>
                            <a:srgbClr val="3C4658"/>
                          </a:solidFill>
                          <a:latin typeface="Public Sans" pitchFamily="34" charset="0"/>
                          <a:ea typeface="Public Sans" pitchFamily="34" charset="-122"/>
                          <a:cs typeface="Public Sans" pitchFamily="34" charset="-120"/>
                        </a:rPr>
                        <a:t>Status</a:t>
                      </a:r>
                      <a:endParaRPr lang="en-US" sz="1300" dirty="0">
                        <a:latin typeface="Public Sans" charset="0"/>
                        <a:ea typeface="Public Sans" charset="0"/>
                        <a:cs typeface="Public Sans" charset="0"/>
                      </a:endParaRPr>
                    </a:p>
                  </a:txBody>
                  <a:tcPr marL="57785" marR="57785" marT="57785" marB="57785">
                    <a:lnL w="12700" cap="flat" cmpd="sng" algn="ctr">
                      <a:solidFill>
                        <a:srgbClr val="BABEC3"/>
                      </a:solidFill>
                      <a:prstDash val="solid"/>
                      <a:round/>
                      <a:headEnd type="none" w="med" len="med"/>
                      <a:tailEnd type="none" w="med" len="med"/>
                    </a:lnL>
                    <a:lnR w="12700" cap="flat" cmpd="sng" algn="ctr">
                      <a:solidFill>
                        <a:srgbClr val="BABEC3"/>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EC3"/>
                      </a:solidFill>
                      <a:prstDash val="solid"/>
                      <a:round/>
                      <a:headEnd type="none" w="med" len="med"/>
                      <a:tailEnd type="none" w="med" len="med"/>
                    </a:lnB>
                    <a:solidFill>
                      <a:srgbClr val="E9EEF5"/>
                    </a:solidFill>
                  </a:tcPr>
                </a:tc>
                <a:tc>
                  <a:txBody>
                    <a:bodyPr/>
                    <a:lstStyle/>
                    <a:p>
                      <a:pPr marL="0" indent="0">
                        <a:lnSpc>
                          <a:spcPts val="1820"/>
                        </a:lnSpc>
                        <a:buNone/>
                      </a:pPr>
                      <a:r>
                        <a:rPr lang="en-US" sz="1300" b="1" dirty="0">
                          <a:solidFill>
                            <a:srgbClr val="3C4658"/>
                          </a:solidFill>
                          <a:latin typeface="Public Sans" pitchFamily="34" charset="0"/>
                          <a:ea typeface="Public Sans" pitchFamily="34" charset="-122"/>
                          <a:cs typeface="Public Sans" pitchFamily="34" charset="-120"/>
                        </a:rPr>
                        <a:t>Keterangan</a:t>
                      </a:r>
                      <a:endParaRPr lang="en-US" sz="1300" dirty="0">
                        <a:latin typeface="Public Sans" charset="0"/>
                        <a:ea typeface="Public Sans" charset="0"/>
                        <a:cs typeface="Public Sans" charset="0"/>
                      </a:endParaRPr>
                    </a:p>
                  </a:txBody>
                  <a:tcPr marL="57785" marR="57785" marT="57785" marB="57785">
                    <a:lnL w="12700" cap="flat" cmpd="sng" algn="ctr">
                      <a:solidFill>
                        <a:srgbClr val="BABEC3"/>
                      </a:solidFill>
                      <a:prstDash val="solid"/>
                      <a:round/>
                      <a:headEnd type="none" w="med" len="med"/>
                      <a:tailEnd type="none" w="med" len="med"/>
                    </a:lnL>
                    <a:lnR w="12700" cap="flat" cmpd="sng" algn="ctr">
                      <a:solidFill>
                        <a:srgbClr val="BABEC3"/>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EC3"/>
                      </a:solidFill>
                      <a:prstDash val="solid"/>
                      <a:round/>
                      <a:headEnd type="none" w="med" len="med"/>
                      <a:tailEnd type="none" w="med" len="med"/>
                    </a:lnB>
                    <a:solidFill>
                      <a:srgbClr val="E9EEF5"/>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4.1</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EC3"/>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Observasi lanjutan, catatan kebutuhan</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EC3"/>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charset="0"/>
                        </a:rPr>
                        <a:t>SA</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EC3"/>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30-10</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EC3"/>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Revisi</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EC3"/>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O-01, O-02 belum di Tabel 2.2</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EC3"/>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4.2</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SRS Bag. 1–3: pendahuluan, kebutuhan, gambaran sistem</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charset="0"/>
                        </a:rPr>
                        <a:t>SA</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01-11</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 Selesai</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Draf SRS v1.0</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4.2</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SRS Bag. 4: 23 KF, 11 use case, 10 user story</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charset="0"/>
                        </a:rPr>
                        <a:t>SA</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01-11</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 Selesai</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Gbr. 3.1 dan 4.1</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4.2</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SRS Bag. 5: KNF terukur Kedaiku</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charset="0"/>
                        </a:rPr>
                        <a:t>SA</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01-11</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Belum</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Masih contoh template</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4"/>
                  </a:ext>
                </a:extLst>
              </a:tr>
              <a:tr h="359321">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4.2</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SRS Bag. 6–9: data, antarmuka, MoSCoW, keterlacakan</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charset="0"/>
                        </a:rPr>
                        <a:t>SA</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01-11</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Belum</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Masih kerangka</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5"/>
                  </a:ext>
                </a:extLst>
              </a:tr>
              <a:tr h="359321">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4.2</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Lampiran A–B: bukti dan persetujuan klien</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charset="0"/>
                        </a:rPr>
                        <a:t>SA</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01-11</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Belum</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Menunggu review klien</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812800" y="5577840"/>
            <a:ext cx="26849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8233A"/>
                </a:solidFill>
                <a:latin typeface="Public Sans" pitchFamily="34" charset="0"/>
                <a:ea typeface="Public Sans" pitchFamily="34" charset="-122"/>
                <a:cs typeface="Public Sans" pitchFamily="34" charset="-120"/>
              </a:rPr>
              <a:t>Selesai 2 dari 6 tugas</a:t>
            </a:r>
            <a:endParaRPr lang="en-US" sz="1400" dirty="0"/>
          </a:p>
        </p:txBody>
      </p:sp>
      <p:sp>
        <p:nvSpPr>
          <p:cNvPr id="5" name="Text 2"/>
          <p:cNvSpPr/>
          <p:nvPr/>
        </p:nvSpPr>
        <p:spPr>
          <a:xfrm>
            <a:off x="5486400" y="5596128"/>
            <a:ext cx="58887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5"/>
                </a:solidFill>
                <a:latin typeface="Public Sans" pitchFamily="34" charset="0"/>
                <a:ea typeface="Public Sans" pitchFamily="34" charset="-122"/>
                <a:cs typeface="Public Sans" pitchFamily="34" charset="-120"/>
              </a:rPr>
              <a:t>Status: ✓ Selesai · Terlambat · Revisi · Belum (sesuai aturan main PPSI)</a:t>
            </a:r>
            <a:endParaRPr lang="en-US" sz="1200" dirty="0"/>
          </a:p>
        </p:txBody>
      </p:sp>
      <p:sp>
        <p:nvSpPr>
          <p:cNvPr id="6" name="Text 3"/>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5"/>
                </a:solidFill>
                <a:latin typeface="Public Sans" pitchFamily="34" charset="0"/>
                <a:ea typeface="Public Sans" pitchFamily="34" charset="-122"/>
                <a:cs typeface="Public Sans" pitchFamily="34" charset="-120"/>
              </a:rPr>
              <a:t>Kelompok 5 · Laporan Progres Minggu 5</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5"/>
                </a:solidFill>
                <a:latin typeface="Public Sans" pitchFamily="34" charset="0"/>
                <a:ea typeface="Public Sans" pitchFamily="34" charset="-122"/>
                <a:cs typeface="Public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8233A"/>
                </a:solidFill>
                <a:latin typeface="Domine" pitchFamily="18" charset="0"/>
                <a:ea typeface="Domine" pitchFamily="18" charset="-122"/>
                <a:cs typeface="Domine" pitchFamily="18" charset="-120"/>
              </a:rPr>
              <a:t>Hasil kerja minggu ini</a:t>
            </a:r>
            <a:endParaRPr lang="en-US" sz="3200" dirty="0"/>
          </a:p>
        </p:txBody>
      </p:sp>
      <p:sp>
        <p:nvSpPr>
          <p:cNvPr id="3" name="Shape 1"/>
          <p:cNvSpPr/>
          <p:nvPr/>
        </p:nvSpPr>
        <p:spPr>
          <a:xfrm>
            <a:off x="815975" y="1537295"/>
            <a:ext cx="5149850" cy="4301530"/>
          </a:xfrm>
          <a:prstGeom prst="roundRect">
            <a:avLst>
              <a:gd name="adj" fmla="val 2288"/>
            </a:avLst>
          </a:prstGeom>
          <a:solidFill>
            <a:srgbClr val="FFFFFF"/>
          </a:solidFill>
          <a:ln w="6350">
            <a:solidFill>
              <a:srgbClr val="D9DEE7"/>
            </a:solidFill>
            <a:prstDash val="solid"/>
          </a:ln>
        </p:spPr>
      </p:sp>
      <p:sp>
        <p:nvSpPr>
          <p:cNvPr id="4" name="Text 2"/>
          <p:cNvSpPr/>
          <p:nvPr/>
        </p:nvSpPr>
        <p:spPr>
          <a:xfrm>
            <a:off x="1073150" y="1794470"/>
            <a:ext cx="4774565"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8233A"/>
                </a:solidFill>
                <a:latin typeface="Public Sans" pitchFamily="34" charset="0"/>
                <a:ea typeface="Public Sans" pitchFamily="34" charset="-122"/>
                <a:cs typeface="Public Sans" pitchFamily="34" charset="-120"/>
              </a:rPr>
              <a:t>Deliverable dan bukti</a:t>
            </a:r>
            <a:endParaRPr lang="en-US" sz="1800" dirty="0"/>
          </a:p>
        </p:txBody>
      </p:sp>
      <p:sp>
        <p:nvSpPr>
          <p:cNvPr id="5" name="Text 3"/>
          <p:cNvSpPr/>
          <p:nvPr/>
        </p:nvSpPr>
        <p:spPr>
          <a:xfrm>
            <a:off x="1157732" y="2195761"/>
            <a:ext cx="4682363" cy="2514600"/>
          </a:xfrm>
          <a:prstGeom prst="rect">
            <a:avLst/>
          </a:prstGeom>
          <a:noFill/>
          <a:ln/>
        </p:spPr>
        <p:txBody>
          <a:bodyPr wrap="square" lIns="0" tIns="0" rIns="0" bIns="0" rtlCol="0" anchor="t">
            <a:normAutofit/>
          </a:bodyPr>
          <a:lstStyle/>
          <a:p>
            <a:pPr marL="169418" indent="-169418" algn="l">
              <a:lnSpc>
                <a:spcPts val="2100"/>
              </a:lnSpc>
              <a:buSzPct val="100000"/>
              <a:buChar char="•"/>
            </a:pPr>
            <a:r>
              <a:rPr lang="en-US" sz="1400" dirty="0">
                <a:solidFill>
                  <a:srgbClr val="3C4658"/>
                </a:solidFill>
                <a:latin typeface="Public Sans" pitchFamily="34" charset="0"/>
                <a:ea typeface="Public Sans" pitchFamily="34" charset="-122"/>
                <a:cs typeface="Public Sans" pitchFamily="34" charset="-120"/>
              </a:rPr>
              <a:t>SRS Versi 1.0 – draf, Bag. 1–4 terisi – SRS_Kedaiku_Kel5.docx </a:t>
            </a:r>
            <a:endParaRPr lang="en-US" sz="1400" dirty="0"/>
          </a:p>
          <a:p>
            <a:pPr marL="169418" indent="-169418" algn="l">
              <a:lnSpc>
                <a:spcPts val="2100"/>
              </a:lnSpc>
              <a:buSzPct val="100000"/>
              <a:buChar char="•"/>
            </a:pPr>
            <a:r>
              <a:rPr lang="en-US" sz="1400" dirty="0">
                <a:solidFill>
                  <a:srgbClr val="3C4658"/>
                </a:solidFill>
                <a:latin typeface="Public Sans" pitchFamily="34" charset="0"/>
                <a:ea typeface="Public Sans" pitchFamily="34" charset="-122"/>
                <a:cs typeface="Public Sans" pitchFamily="34" charset="-120"/>
              </a:rPr>
              <a:t>Diagram konteks (Gbr. 3.1) dan diagram use case (Gbr. 4.1): 11 use case, 3 aktor</a:t>
            </a:r>
            <a:endParaRPr lang="en-US" sz="1400" dirty="0"/>
          </a:p>
          <a:p>
            <a:pPr marL="169418" indent="-169418" algn="l">
              <a:lnSpc>
                <a:spcPts val="2100"/>
              </a:lnSpc>
              <a:buSzPct val="100000"/>
              <a:buChar char="•"/>
            </a:pPr>
            <a:r>
              <a:rPr lang="en-US" sz="1400" dirty="0">
                <a:solidFill>
                  <a:srgbClr val="3C4658"/>
                </a:solidFill>
                <a:latin typeface="Public Sans" pitchFamily="34" charset="0"/>
                <a:ea typeface="Public Sans" pitchFamily="34" charset="-122"/>
                <a:cs typeface="Public Sans" pitchFamily="34" charset="-120"/>
              </a:rPr>
              <a:t>Daftar KF (Bag. 4.1): 23 kebutuhan, 17 Must · 5 Should · 1 Could; 10 user story dengan kriteria penerimaan (Bag. 4.4)</a:t>
            </a:r>
            <a:endParaRPr lang="en-US" sz="1400" dirty="0"/>
          </a:p>
        </p:txBody>
      </p:sp>
      <p:sp>
        <p:nvSpPr>
          <p:cNvPr id="6" name="Text 4"/>
          <p:cNvSpPr/>
          <p:nvPr/>
        </p:nvSpPr>
        <p:spPr>
          <a:xfrm>
            <a:off x="1073150" y="4892040"/>
            <a:ext cx="477456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5"/>
                </a:solidFill>
                <a:latin typeface="Public Sans" pitchFamily="34" charset="0"/>
                <a:ea typeface="Public Sans" pitchFamily="34" charset="-122"/>
                <a:cs typeface="Public Sans" pitchFamily="34" charset="-120"/>
              </a:rPr>
              <a:t>Sumber: SRS_Kedaiku_Kel5.docx; kode kebutuhan merujuk RD v1.1 dan Dokumen Perencanaan Bag. II.</a:t>
            </a:r>
            <a:endParaRPr lang="en-US" sz="1200" dirty="0"/>
          </a:p>
        </p:txBody>
      </p:sp>
      <p:sp>
        <p:nvSpPr>
          <p:cNvPr id="7" name="Text 5"/>
          <p:cNvSpPr/>
          <p:nvPr/>
        </p:nvSpPr>
        <p:spPr>
          <a:xfrm>
            <a:off x="6229350" y="1540470"/>
            <a:ext cx="5143500" cy="4295180"/>
          </a:xfrm>
          <a:prstGeom prst="roundRect">
            <a:avLst>
              <a:gd name="adj" fmla="val 2218"/>
            </a:avLst>
          </a:prstGeom>
          <a:solidFill>
            <a:srgbClr val="E9EEF5"/>
          </a:solidFill>
          <a:ln w="12700">
            <a:solidFill>
              <a:srgbClr val="8A96AB"/>
            </a:solidFill>
            <a:prstDash val="dash"/>
          </a:ln>
        </p:spPr>
        <p:txBody>
          <a:bodyPr wrap="square" lIns="1056145" tIns="232452" rIns="1056194" bIns="232452" rtlCol="0" anchor="ctr">
            <a:normAutofit/>
          </a:bodyPr>
          <a:lstStyle/>
          <a:p>
            <a:pPr marL="0" indent="0" algn="ctr">
              <a:lnSpc>
                <a:spcPts val="1960"/>
              </a:lnSpc>
              <a:buNone/>
            </a:pPr>
            <a:endParaRPr lang="en-US" sz="1400" dirty="0"/>
          </a:p>
        </p:txBody>
      </p:sp>
      <p:sp>
        <p:nvSpPr>
          <p:cNvPr id="8" name="Text 6"/>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5"/>
                </a:solidFill>
                <a:latin typeface="Public Sans" pitchFamily="34" charset="0"/>
                <a:ea typeface="Public Sans" pitchFamily="34" charset="-122"/>
                <a:cs typeface="Public Sans" pitchFamily="34" charset="-120"/>
              </a:rPr>
              <a:t>Kelompok 5 · Laporan Progres Minggu 5</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5"/>
                </a:solidFill>
                <a:latin typeface="Public Sans" pitchFamily="34" charset="0"/>
                <a:ea typeface="Public Sans" pitchFamily="34" charset="-122"/>
                <a:cs typeface="Public Sans" pitchFamily="34" charset="-120"/>
              </a:rPr>
              <a:t>4</a:t>
            </a:r>
            <a:endParaRPr lang="en-US" sz="1200" dirty="0"/>
          </a:p>
        </p:txBody>
      </p:sp>
      <p:pic>
        <p:nvPicPr>
          <p:cNvPr id="10" name="Diagram use case" descr="Diagram use case Website Kedaiku: 3 aktor (Pelanggan, Admin, Pemilik) dan 11 use case"/>
          <p:cNvPicPr>
            <a:picLocks noChangeAspect="1"/>
          </p:cNvPicPr>
          <p:nvPr/>
        </p:nvPicPr>
        <p:blipFill>
          <a:blip r:embed="rId3"/>
          <a:stretch>
            <a:fillRect/>
          </a:stretch>
        </p:blipFill>
        <p:spPr>
          <a:xfrm>
            <a:off x="7031633" y="1650198"/>
            <a:ext cx="3538933" cy="3794760"/>
          </a:xfrm>
          <a:prstGeom prst="rect">
            <a:avLst/>
          </a:prstGeom>
        </p:spPr>
      </p:pic>
      <p:sp>
        <p:nvSpPr>
          <p:cNvPr id="11" name="Keterangan gambar"/>
          <p:cNvSpPr txBox="1"/>
          <p:nvPr/>
        </p:nvSpPr>
        <p:spPr>
          <a:xfrm>
            <a:off x="6229350" y="5472390"/>
            <a:ext cx="5143500" cy="274320"/>
          </a:xfrm>
          <a:prstGeom prst="rect">
            <a:avLst/>
          </a:prstGeom>
          <a:noFill/>
        </p:spPr>
        <p:txBody>
          <a:bodyPr wrap="none" lIns="0" rIns="0">
            <a:spAutoFit/>
          </a:bodyPr>
          <a:lstStyle/>
          <a:p>
            <a:pPr algn="ctr"/>
            <a:r>
              <a:rPr sz="1100">
                <a:solidFill>
                  <a:srgbClr val="3C4658"/>
                </a:solidFill>
                <a:latin typeface="Public Sans"/>
              </a:rPr>
              <a:t>Gambar 4.1 Diagram use case (SRS Bag. 4.2)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8233A"/>
                </a:solidFill>
                <a:latin typeface="Domine" pitchFamily="18" charset="0"/>
                <a:ea typeface="Domine" pitchFamily="18" charset="-122"/>
                <a:cs typeface="Domine" pitchFamily="18" charset="-120"/>
              </a:rPr>
              <a:t>Kontribusi anggota</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21420"/>
          <a:ext cx="10553700" cy="2591221"/>
        </p:xfrm>
        <a:graphic>
          <a:graphicData uri="http://schemas.openxmlformats.org/drawingml/2006/table">
            <a:tbl>
              <a:tblPr/>
              <a:tblGrid>
                <a:gridCol w="2321814">
                  <a:extLst>
                    <a:ext uri="{9D8B030D-6E8A-4147-A177-3AD203B41FA5}">
                      <a16:colId xmlns:a16="http://schemas.microsoft.com/office/drawing/2014/main" val="20000"/>
                    </a:ext>
                  </a:extLst>
                </a:gridCol>
                <a:gridCol w="1899666">
                  <a:extLst>
                    <a:ext uri="{9D8B030D-6E8A-4147-A177-3AD203B41FA5}">
                      <a16:colId xmlns:a16="http://schemas.microsoft.com/office/drawing/2014/main" val="20001"/>
                    </a:ext>
                  </a:extLst>
                </a:gridCol>
                <a:gridCol w="5065776">
                  <a:extLst>
                    <a:ext uri="{9D8B030D-6E8A-4147-A177-3AD203B41FA5}">
                      <a16:colId xmlns:a16="http://schemas.microsoft.com/office/drawing/2014/main" val="20002"/>
                    </a:ext>
                  </a:extLst>
                </a:gridCol>
                <a:gridCol w="1266444">
                  <a:extLst>
                    <a:ext uri="{9D8B030D-6E8A-4147-A177-3AD203B41FA5}">
                      <a16:colId xmlns:a16="http://schemas.microsoft.com/office/drawing/2014/main" val="20003"/>
                    </a:ext>
                  </a:extLst>
                </a:gridCol>
              </a:tblGrid>
              <a:tr h="359321">
                <a:tc>
                  <a:txBody>
                    <a:bodyPr/>
                    <a:lstStyle/>
                    <a:p>
                      <a:pPr marL="0" indent="0">
                        <a:lnSpc>
                          <a:spcPts val="1820"/>
                        </a:lnSpc>
                        <a:buNone/>
                      </a:pPr>
                      <a:r>
                        <a:rPr lang="en-US" sz="1300" b="1" dirty="0">
                          <a:solidFill>
                            <a:srgbClr val="3C4658"/>
                          </a:solidFill>
                          <a:latin typeface="Public Sans" pitchFamily="34" charset="0"/>
                          <a:ea typeface="Public Sans" pitchFamily="34" charset="-122"/>
                          <a:cs typeface="Public Sans" pitchFamily="34" charset="-120"/>
                        </a:rPr>
                        <a:t>Nama</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BABEC3"/>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EC3"/>
                      </a:solidFill>
                      <a:prstDash val="solid"/>
                      <a:round/>
                      <a:headEnd type="none" w="med" len="med"/>
                      <a:tailEnd type="none" w="med" len="med"/>
                    </a:lnB>
                    <a:solidFill>
                      <a:srgbClr val="E9EEF5"/>
                    </a:solidFill>
                  </a:tcPr>
                </a:tc>
                <a:tc>
                  <a:txBody>
                    <a:bodyPr/>
                    <a:lstStyle/>
                    <a:p>
                      <a:pPr marL="0" indent="0">
                        <a:lnSpc>
                          <a:spcPts val="1820"/>
                        </a:lnSpc>
                        <a:buNone/>
                      </a:pPr>
                      <a:r>
                        <a:rPr lang="en-US" sz="1300" b="1" dirty="0">
                          <a:solidFill>
                            <a:srgbClr val="3C4658"/>
                          </a:solidFill>
                          <a:latin typeface="Public Sans" pitchFamily="34" charset="0"/>
                          <a:ea typeface="Public Sans" pitchFamily="34" charset="-122"/>
                          <a:cs typeface="Public Sans" pitchFamily="34" charset="-120"/>
                        </a:rPr>
                        <a:t>Peran</a:t>
                      </a:r>
                      <a:endParaRPr lang="en-US" sz="1300" dirty="0">
                        <a:latin typeface="Public Sans" charset="0"/>
                        <a:ea typeface="Public Sans" charset="0"/>
                        <a:cs typeface="Public Sans" charset="0"/>
                      </a:endParaRPr>
                    </a:p>
                  </a:txBody>
                  <a:tcPr marL="57785" marR="57785" marT="57785" marB="57785">
                    <a:lnL w="12700" cap="flat" cmpd="sng" algn="ctr">
                      <a:solidFill>
                        <a:srgbClr val="BABEC3"/>
                      </a:solidFill>
                      <a:prstDash val="solid"/>
                      <a:round/>
                      <a:headEnd type="none" w="med" len="med"/>
                      <a:tailEnd type="none" w="med" len="med"/>
                    </a:lnL>
                    <a:lnR w="12700" cap="flat" cmpd="sng" algn="ctr">
                      <a:solidFill>
                        <a:srgbClr val="BABEC3"/>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EC3"/>
                      </a:solidFill>
                      <a:prstDash val="solid"/>
                      <a:round/>
                      <a:headEnd type="none" w="med" len="med"/>
                      <a:tailEnd type="none" w="med" len="med"/>
                    </a:lnB>
                    <a:solidFill>
                      <a:srgbClr val="E9EEF5"/>
                    </a:solidFill>
                  </a:tcPr>
                </a:tc>
                <a:tc>
                  <a:txBody>
                    <a:bodyPr/>
                    <a:lstStyle/>
                    <a:p>
                      <a:pPr marL="0" indent="0">
                        <a:lnSpc>
                          <a:spcPts val="1820"/>
                        </a:lnSpc>
                        <a:buNone/>
                      </a:pPr>
                      <a:r>
                        <a:rPr lang="en-US" sz="1300" b="1" dirty="0">
                          <a:solidFill>
                            <a:srgbClr val="3C4658"/>
                          </a:solidFill>
                          <a:latin typeface="Public Sans" pitchFamily="34" charset="0"/>
                          <a:ea typeface="Public Sans" pitchFamily="34" charset="-122"/>
                          <a:cs typeface="Public Sans" pitchFamily="34" charset="-120"/>
                        </a:rPr>
                        <a:t>Pekerjaan minggu ini (kode WBS)</a:t>
                      </a:r>
                      <a:endParaRPr lang="en-US" sz="1300" dirty="0">
                        <a:latin typeface="Public Sans" charset="0"/>
                        <a:ea typeface="Public Sans" charset="0"/>
                        <a:cs typeface="Public Sans" charset="0"/>
                      </a:endParaRPr>
                    </a:p>
                  </a:txBody>
                  <a:tcPr marL="57785" marR="57785" marT="57785" marB="57785">
                    <a:lnL w="12700" cap="flat" cmpd="sng" algn="ctr">
                      <a:solidFill>
                        <a:srgbClr val="BABEC3"/>
                      </a:solidFill>
                      <a:prstDash val="solid"/>
                      <a:round/>
                      <a:headEnd type="none" w="med" len="med"/>
                      <a:tailEnd type="none" w="med" len="med"/>
                    </a:lnL>
                    <a:lnR w="12700" cap="flat" cmpd="sng" algn="ctr">
                      <a:solidFill>
                        <a:srgbClr val="BABEC3"/>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EC3"/>
                      </a:solidFill>
                      <a:prstDash val="solid"/>
                      <a:round/>
                      <a:headEnd type="none" w="med" len="med"/>
                      <a:tailEnd type="none" w="med" len="med"/>
                    </a:lnB>
                    <a:solidFill>
                      <a:srgbClr val="E9EEF5"/>
                    </a:solidFill>
                  </a:tcPr>
                </a:tc>
                <a:tc>
                  <a:txBody>
                    <a:bodyPr/>
                    <a:lstStyle/>
                    <a:p>
                      <a:pPr marL="0" indent="0">
                        <a:lnSpc>
                          <a:spcPts val="1820"/>
                        </a:lnSpc>
                        <a:buNone/>
                      </a:pPr>
                      <a:r>
                        <a:rPr lang="en-US" sz="1300" b="1" dirty="0">
                          <a:solidFill>
                            <a:srgbClr val="3C4658"/>
                          </a:solidFill>
                          <a:latin typeface="Public Sans" pitchFamily="34" charset="0"/>
                          <a:ea typeface="Public Sans" pitchFamily="34" charset="-122"/>
                          <a:cs typeface="Public Sans" pitchFamily="34" charset="-120"/>
                        </a:rPr>
                        <a:t>Jam</a:t>
                      </a:r>
                      <a:endParaRPr lang="en-US" sz="1300" dirty="0">
                        <a:latin typeface="Public Sans" charset="0"/>
                        <a:ea typeface="Public Sans" charset="0"/>
                        <a:cs typeface="Public Sans" charset="0"/>
                      </a:endParaRPr>
                    </a:p>
                  </a:txBody>
                  <a:tcPr marL="57785" marR="57785" marT="57785" marB="57785">
                    <a:lnL w="12700" cap="flat" cmpd="sng" algn="ctr">
                      <a:solidFill>
                        <a:srgbClr val="BABEC3"/>
                      </a:solidFill>
                      <a:prstDash val="solid"/>
                      <a:round/>
                      <a:headEnd type="none" w="med" len="med"/>
                      <a:tailEnd type="none" w="med" len="med"/>
                    </a:lnL>
                    <a:lnR w="12700" cap="flat" cmpd="sng" algn="ctr">
                      <a:solidFill>
                        <a:srgbClr val="BABEC3"/>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EC3"/>
                      </a:solidFill>
                      <a:prstDash val="solid"/>
                      <a:round/>
                      <a:headEnd type="none" w="med" len="med"/>
                      <a:tailEnd type="none" w="med" len="med"/>
                    </a:lnB>
                    <a:solidFill>
                      <a:srgbClr val="E9EEF5"/>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Muhammad Dzaki Ramadhan</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EC3"/>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Project Manager &amp; Tester</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EC3"/>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1.2 memantau jadwal dan risiko; menyusun laporan progres Mg 5</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EC3"/>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[isi]</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EC3"/>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Muhammad Fariz Amali</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System Analyst</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4.1–4.2 menyusun SRS Bag. 1–4 (23 KF, 11 use case, 10 user story)</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[isi]</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Muhammad Avinseno HZ</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System Designer &amp; Tech. Writer</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Tidak ada paket WBS terjadwal; fase Desain (WBS 5) mulai Mg 7</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[isi]</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Rafael Satria Utama</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Programmer</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Tidak ada paket WBS terjadwal; Pemrograman (WBS 6) mulai Mg 9</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[isi]</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 1"/>
          <p:cNvSpPr/>
          <p:nvPr/>
        </p:nvSpPr>
        <p:spPr>
          <a:xfrm>
            <a:off x="812800" y="4624586"/>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5"/>
                </a:solidFill>
                <a:latin typeface="Public Sans" pitchFamily="34" charset="0"/>
                <a:ea typeface="Public Sans" pitchFamily="34" charset="-122"/>
                <a:cs typeface="Public Sans" pitchFamily="34" charset="-120"/>
              </a:rPr>
              <a:t>Acuan beban: ±8 jam per orang per minggu (4 SKS = 180 jam per semester). Pekerjaan setiap anggota menjadi dasar peer assessment Minggu 6, 8, dan 13.</a:t>
            </a:r>
            <a:endParaRPr lang="en-US" sz="1200" dirty="0"/>
          </a:p>
        </p:txBody>
      </p:sp>
      <p:sp>
        <p:nvSpPr>
          <p:cNvPr id="5" name="Text 2"/>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5"/>
                </a:solidFill>
                <a:latin typeface="Public Sans" pitchFamily="34" charset="0"/>
                <a:ea typeface="Public Sans" pitchFamily="34" charset="-122"/>
                <a:cs typeface="Public Sans" pitchFamily="34" charset="-120"/>
              </a:rPr>
              <a:t>Kelompok 5 · Laporan Progres Minggu 5</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5"/>
                </a:solidFill>
                <a:latin typeface="Public Sans" pitchFamily="34" charset="0"/>
                <a:ea typeface="Public Sans" pitchFamily="34" charset="-122"/>
                <a:cs typeface="Public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8233A"/>
                </a:solidFill>
                <a:latin typeface="Domine" pitchFamily="18" charset="0"/>
                <a:ea typeface="Domine" pitchFamily="18" charset="-122"/>
                <a:cs typeface="Domine" pitchFamily="18" charset="-120"/>
              </a:rPr>
              <a:t>Komunikasi dengan klien</a:t>
            </a:r>
            <a:endParaRPr lang="en-US" sz="3200" dirty="0"/>
          </a:p>
        </p:txBody>
      </p:sp>
      <p:sp>
        <p:nvSpPr>
          <p:cNvPr id="3" name="Shape 1"/>
          <p:cNvSpPr/>
          <p:nvPr/>
        </p:nvSpPr>
        <p:spPr>
          <a:xfrm>
            <a:off x="815975" y="1537295"/>
            <a:ext cx="5175250" cy="2045990"/>
          </a:xfrm>
          <a:prstGeom prst="roundRect">
            <a:avLst>
              <a:gd name="adj" fmla="val 4811"/>
            </a:avLst>
          </a:prstGeom>
          <a:solidFill>
            <a:srgbClr val="FFFFFF"/>
          </a:solidFill>
          <a:ln w="6350">
            <a:solidFill>
              <a:srgbClr val="D9DEE7"/>
            </a:solidFill>
            <a:prstDash val="solid"/>
          </a:ln>
        </p:spPr>
      </p:sp>
      <p:sp>
        <p:nvSpPr>
          <p:cNvPr id="4" name="Text 2"/>
          <p:cNvSpPr/>
          <p:nvPr/>
        </p:nvSpPr>
        <p:spPr>
          <a:xfrm>
            <a:off x="1047750" y="1769070"/>
            <a:ext cx="485305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8233A"/>
                </a:solidFill>
                <a:latin typeface="Public Sans" pitchFamily="34" charset="0"/>
                <a:ea typeface="Public Sans" pitchFamily="34" charset="-122"/>
                <a:cs typeface="Public Sans" pitchFamily="34" charset="-120"/>
              </a:rPr>
              <a:t>Pertemuan</a:t>
            </a:r>
            <a:endParaRPr lang="en-US" sz="1600" dirty="0"/>
          </a:p>
        </p:txBody>
      </p:sp>
      <p:sp>
        <p:nvSpPr>
          <p:cNvPr id="5" name="Text 3"/>
          <p:cNvSpPr/>
          <p:nvPr/>
        </p:nvSpPr>
        <p:spPr>
          <a:xfrm>
            <a:off x="1047750" y="2089100"/>
            <a:ext cx="4853051" cy="1325880"/>
          </a:xfrm>
          <a:prstGeom prst="rect">
            <a:avLst/>
          </a:prstGeom>
          <a:noFill/>
          <a:ln/>
        </p:spPr>
        <p:txBody>
          <a:bodyPr wrap="square" lIns="0" tIns="0" rIns="0" bIns="0" rtlCol="0" anchor="t">
            <a:normAutofit/>
          </a:bodyPr>
          <a:lstStyle/>
          <a:p>
            <a:pPr marL="0" indent="0" algn="l">
              <a:lnSpc>
                <a:spcPts val="2030"/>
              </a:lnSpc>
              <a:buNone/>
            </a:pPr>
            <a:r>
              <a:rPr lang="en-US" sz="1400" dirty="0" err="1">
                <a:solidFill>
                  <a:srgbClr val="3C4658"/>
                </a:solidFill>
                <a:latin typeface="Public Sans" pitchFamily="34" charset="0"/>
                <a:ea typeface="Public Sans" pitchFamily="34" charset="-122"/>
                <a:cs typeface="Public Sans" pitchFamily="34" charset="-120"/>
              </a:rPr>
              <a:t>pertemuan</a:t>
            </a:r>
            <a:r>
              <a:rPr lang="en-US" sz="1400" dirty="0">
                <a:solidFill>
                  <a:srgbClr val="3C4658"/>
                </a:solidFill>
                <a:latin typeface="Public Sans" pitchFamily="34" charset="0"/>
                <a:ea typeface="Public Sans" pitchFamily="34" charset="-122"/>
                <a:cs typeface="Public Sans" pitchFamily="34" charset="-120"/>
              </a:rPr>
              <a:t> klien </a:t>
            </a:r>
            <a:r>
              <a:rPr lang="en-US" sz="1400" dirty="0" err="1">
                <a:solidFill>
                  <a:srgbClr val="3C4658"/>
                </a:solidFill>
                <a:latin typeface="Public Sans" pitchFamily="34" charset="0"/>
                <a:ea typeface="Public Sans" pitchFamily="34" charset="-122"/>
                <a:cs typeface="Public Sans" pitchFamily="34" charset="-120"/>
              </a:rPr>
              <a:t>minggu</a:t>
            </a:r>
            <a:r>
              <a:rPr lang="en-US" sz="1400" dirty="0">
                <a:solidFill>
                  <a:srgbClr val="3C4658"/>
                </a:solidFill>
                <a:latin typeface="Public Sans" pitchFamily="34" charset="0"/>
                <a:ea typeface="Public Sans" pitchFamily="34" charset="-122"/>
                <a:cs typeface="Public Sans" pitchFamily="34" charset="-120"/>
              </a:rPr>
              <a:t> </a:t>
            </a:r>
            <a:r>
              <a:rPr lang="en-US" sz="1400" dirty="0" err="1">
                <a:solidFill>
                  <a:srgbClr val="3C4658"/>
                </a:solidFill>
                <a:latin typeface="Public Sans" pitchFamily="34" charset="0"/>
                <a:ea typeface="Public Sans" pitchFamily="34" charset="-122"/>
                <a:cs typeface="Public Sans" pitchFamily="34" charset="-120"/>
              </a:rPr>
              <a:t>ini</a:t>
            </a:r>
            <a:r>
              <a:rPr lang="en-US" sz="1400" dirty="0">
                <a:solidFill>
                  <a:srgbClr val="3C4658"/>
                </a:solidFill>
                <a:latin typeface="Public Sans" pitchFamily="34" charset="0"/>
                <a:ea typeface="Public Sans" pitchFamily="34" charset="-122"/>
                <a:cs typeface="Public Sans" pitchFamily="34" charset="-120"/>
              </a:rPr>
              <a:t> </a:t>
            </a:r>
            <a:r>
              <a:rPr lang="en-US" sz="1400" dirty="0" err="1">
                <a:solidFill>
                  <a:srgbClr val="3C4658"/>
                </a:solidFill>
                <a:latin typeface="Public Sans" pitchFamily="34" charset="0"/>
                <a:ea typeface="Public Sans" pitchFamily="34" charset="-122"/>
                <a:cs typeface="Public Sans" pitchFamily="34" charset="-120"/>
              </a:rPr>
              <a:t>Membahas</a:t>
            </a:r>
            <a:r>
              <a:rPr lang="en-US" sz="1400" dirty="0">
                <a:solidFill>
                  <a:srgbClr val="3C4658"/>
                </a:solidFill>
                <a:latin typeface="Public Sans" pitchFamily="34" charset="0"/>
                <a:ea typeface="Public Sans" pitchFamily="34" charset="-122"/>
                <a:cs typeface="Public Sans" pitchFamily="34" charset="-120"/>
              </a:rPr>
              <a:t> </a:t>
            </a:r>
            <a:r>
              <a:rPr lang="en-US" sz="1400" dirty="0" err="1">
                <a:solidFill>
                  <a:srgbClr val="3C4658"/>
                </a:solidFill>
                <a:latin typeface="Public Sans" pitchFamily="34" charset="0"/>
                <a:ea typeface="Public Sans" pitchFamily="34" charset="-122"/>
                <a:cs typeface="Public Sans" pitchFamily="34" charset="-120"/>
              </a:rPr>
              <a:t>kebutuhan</a:t>
            </a:r>
            <a:r>
              <a:rPr lang="en-US" sz="1400" dirty="0">
                <a:solidFill>
                  <a:srgbClr val="3C4658"/>
                </a:solidFill>
                <a:latin typeface="Public Sans" pitchFamily="34" charset="0"/>
                <a:ea typeface="Public Sans" pitchFamily="34" charset="-122"/>
                <a:cs typeface="Public Sans" pitchFamily="34" charset="-120"/>
              </a:rPr>
              <a:t> pada </a:t>
            </a:r>
            <a:r>
              <a:rPr lang="en-US" sz="1400" dirty="0" err="1">
                <a:solidFill>
                  <a:srgbClr val="3C4658"/>
                </a:solidFill>
                <a:latin typeface="Public Sans" pitchFamily="34" charset="0"/>
                <a:ea typeface="Public Sans" pitchFamily="34" charset="-122"/>
                <a:cs typeface="Public Sans" pitchFamily="34" charset="-120"/>
              </a:rPr>
              <a:t>tanggal</a:t>
            </a:r>
            <a:r>
              <a:rPr lang="en-US" sz="1400" dirty="0">
                <a:solidFill>
                  <a:srgbClr val="3C4658"/>
                </a:solidFill>
                <a:latin typeface="Public Sans" pitchFamily="34" charset="0"/>
                <a:ea typeface="Public Sans" pitchFamily="34" charset="-122"/>
                <a:cs typeface="Public Sans" pitchFamily="34" charset="-120"/>
              </a:rPr>
              <a:t>: 24 -10-2026, oleh Bapak </a:t>
            </a:r>
            <a:r>
              <a:rPr lang="en-US" sz="1400" dirty="0" err="1">
                <a:solidFill>
                  <a:srgbClr val="3C4658"/>
                </a:solidFill>
                <a:latin typeface="Public Sans" pitchFamily="34" charset="0"/>
                <a:ea typeface="Public Sans" pitchFamily="34" charset="-122"/>
                <a:cs typeface="Public Sans" pitchFamily="34" charset="-120"/>
              </a:rPr>
              <a:t>Rusmin</a:t>
            </a:r>
            <a:r>
              <a:rPr lang="en-US" sz="1400" dirty="0">
                <a:solidFill>
                  <a:srgbClr val="3C4658"/>
                </a:solidFill>
                <a:latin typeface="Public Sans" pitchFamily="34" charset="0"/>
                <a:ea typeface="Public Sans" pitchFamily="34" charset="-122"/>
                <a:cs typeface="Public Sans" pitchFamily="34" charset="-120"/>
              </a:rPr>
              <a:t> </a:t>
            </a:r>
            <a:r>
              <a:rPr lang="en-US" sz="1400" dirty="0" err="1">
                <a:solidFill>
                  <a:srgbClr val="3C4658"/>
                </a:solidFill>
                <a:latin typeface="Public Sans" pitchFamily="34" charset="0"/>
                <a:ea typeface="Public Sans" pitchFamily="34" charset="-122"/>
                <a:cs typeface="Public Sans" pitchFamily="34" charset="-120"/>
              </a:rPr>
              <a:t>suami</a:t>
            </a:r>
            <a:r>
              <a:rPr lang="en-US" sz="1400" dirty="0">
                <a:solidFill>
                  <a:srgbClr val="3C4658"/>
                </a:solidFill>
                <a:latin typeface="Public Sans" pitchFamily="34" charset="0"/>
                <a:ea typeface="Public Sans" pitchFamily="34" charset="-122"/>
                <a:cs typeface="Public Sans" pitchFamily="34" charset="-120"/>
              </a:rPr>
              <a:t> </a:t>
            </a:r>
            <a:r>
              <a:rPr lang="en-US" sz="1400" dirty="0" err="1">
                <a:solidFill>
                  <a:srgbClr val="3C4658"/>
                </a:solidFill>
                <a:latin typeface="Public Sans" pitchFamily="34" charset="0"/>
                <a:ea typeface="Public Sans" pitchFamily="34" charset="-122"/>
                <a:cs typeface="Public Sans" pitchFamily="34" charset="-120"/>
              </a:rPr>
              <a:t>dari</a:t>
            </a:r>
            <a:r>
              <a:rPr lang="en-US" sz="1400" dirty="0">
                <a:solidFill>
                  <a:srgbClr val="3C4658"/>
                </a:solidFill>
                <a:latin typeface="Public Sans" pitchFamily="34" charset="0"/>
                <a:ea typeface="Public Sans" pitchFamily="34" charset="-122"/>
                <a:cs typeface="Public Sans" pitchFamily="34" charset="-120"/>
              </a:rPr>
              <a:t>  </a:t>
            </a:r>
            <a:r>
              <a:rPr lang="en-US" sz="1400" dirty="0" err="1">
                <a:solidFill>
                  <a:srgbClr val="3C4658"/>
                </a:solidFill>
                <a:latin typeface="Public Sans" pitchFamily="34" charset="0"/>
                <a:ea typeface="Public Sans" pitchFamily="34" charset="-122"/>
                <a:cs typeface="Public Sans" pitchFamily="34" charset="-120"/>
              </a:rPr>
              <a:t>ibu</a:t>
            </a:r>
            <a:r>
              <a:rPr lang="en-US" sz="1400" dirty="0">
                <a:solidFill>
                  <a:srgbClr val="3C4658"/>
                </a:solidFill>
                <a:latin typeface="Public Sans" pitchFamily="34" charset="0"/>
                <a:ea typeface="Public Sans" pitchFamily="34" charset="-122"/>
                <a:cs typeface="Public Sans" pitchFamily="34" charset="-120"/>
              </a:rPr>
              <a:t> </a:t>
            </a:r>
            <a:r>
              <a:rPr lang="en-US" sz="1400" dirty="0" err="1">
                <a:solidFill>
                  <a:srgbClr val="3C4658"/>
                </a:solidFill>
                <a:latin typeface="Public Sans" pitchFamily="34" charset="0"/>
                <a:ea typeface="Public Sans" pitchFamily="34" charset="-122"/>
                <a:cs typeface="Public Sans" pitchFamily="34" charset="-120"/>
              </a:rPr>
              <a:t>elsa</a:t>
            </a:r>
            <a:r>
              <a:rPr lang="en-US" sz="1400" dirty="0">
                <a:solidFill>
                  <a:srgbClr val="3C4658"/>
                </a:solidFill>
                <a:latin typeface="Public Sans" pitchFamily="34" charset="0"/>
                <a:ea typeface="Public Sans" pitchFamily="34" charset="-122"/>
                <a:cs typeface="Public Sans" pitchFamily="34" charset="-120"/>
              </a:rPr>
              <a:t> </a:t>
            </a:r>
            <a:endParaRPr lang="en-US" sz="1400" dirty="0"/>
          </a:p>
        </p:txBody>
      </p:sp>
      <p:sp>
        <p:nvSpPr>
          <p:cNvPr id="6" name="Shape 4"/>
          <p:cNvSpPr/>
          <p:nvPr/>
        </p:nvSpPr>
        <p:spPr>
          <a:xfrm>
            <a:off x="6200775" y="1537295"/>
            <a:ext cx="5175250" cy="2045990"/>
          </a:xfrm>
          <a:prstGeom prst="roundRect">
            <a:avLst>
              <a:gd name="adj" fmla="val 4811"/>
            </a:avLst>
          </a:prstGeom>
          <a:solidFill>
            <a:srgbClr val="FFFFFF"/>
          </a:solidFill>
          <a:ln w="6350">
            <a:solidFill>
              <a:srgbClr val="D9DEE7"/>
            </a:solidFill>
            <a:prstDash val="solid"/>
          </a:ln>
        </p:spPr>
      </p:sp>
      <p:sp>
        <p:nvSpPr>
          <p:cNvPr id="7" name="Text 5"/>
          <p:cNvSpPr/>
          <p:nvPr/>
        </p:nvSpPr>
        <p:spPr>
          <a:xfrm>
            <a:off x="6432550" y="1769070"/>
            <a:ext cx="485305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8233A"/>
                </a:solidFill>
                <a:latin typeface="Public Sans" pitchFamily="34" charset="0"/>
                <a:ea typeface="Public Sans" pitchFamily="34" charset="-122"/>
                <a:cs typeface="Public Sans" pitchFamily="34" charset="-120"/>
              </a:rPr>
              <a:t>Yang dibahas</a:t>
            </a:r>
            <a:endParaRPr lang="en-US" sz="1600" dirty="0"/>
          </a:p>
        </p:txBody>
      </p:sp>
      <p:sp>
        <p:nvSpPr>
          <p:cNvPr id="8" name="Text 6"/>
          <p:cNvSpPr/>
          <p:nvPr/>
        </p:nvSpPr>
        <p:spPr>
          <a:xfrm>
            <a:off x="6432550" y="2089100"/>
            <a:ext cx="4853051" cy="132588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C4658"/>
                </a:solidFill>
                <a:latin typeface="Public Sans" pitchFamily="34" charset="0"/>
                <a:ea typeface="Public Sans" pitchFamily="34" charset="-122"/>
                <a:cs typeface="Public Sans" pitchFamily="34" charset="-120"/>
              </a:rPr>
              <a:t>Agenda pertemuan berikutnya (akhir fase Analisis): review draf SRS, konfirmasi alur pesan online, hak akses admin dan pemilik, serta prioritas MoSCoW</a:t>
            </a:r>
            <a:endParaRPr lang="en-US" sz="1400" dirty="0"/>
          </a:p>
        </p:txBody>
      </p:sp>
      <p:sp>
        <p:nvSpPr>
          <p:cNvPr id="9" name="Shape 7"/>
          <p:cNvSpPr/>
          <p:nvPr/>
        </p:nvSpPr>
        <p:spPr>
          <a:xfrm>
            <a:off x="815975" y="3792835"/>
            <a:ext cx="5175250" cy="2045990"/>
          </a:xfrm>
          <a:prstGeom prst="roundRect">
            <a:avLst>
              <a:gd name="adj" fmla="val 4811"/>
            </a:avLst>
          </a:prstGeom>
          <a:solidFill>
            <a:srgbClr val="FFFFFF"/>
          </a:solidFill>
          <a:ln w="6350">
            <a:solidFill>
              <a:srgbClr val="D9DEE7"/>
            </a:solidFill>
            <a:prstDash val="solid"/>
          </a:ln>
        </p:spPr>
      </p:sp>
      <p:sp>
        <p:nvSpPr>
          <p:cNvPr id="10" name="Text 8"/>
          <p:cNvSpPr/>
          <p:nvPr/>
        </p:nvSpPr>
        <p:spPr>
          <a:xfrm>
            <a:off x="1047750" y="4024610"/>
            <a:ext cx="485305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8233A"/>
                </a:solidFill>
                <a:latin typeface="Public Sans" pitchFamily="34" charset="0"/>
                <a:ea typeface="Public Sans" pitchFamily="34" charset="-122"/>
                <a:cs typeface="Public Sans" pitchFamily="34" charset="-120"/>
              </a:rPr>
              <a:t>Masukan dan keputusan klien</a:t>
            </a:r>
            <a:endParaRPr lang="en-US" sz="1600" dirty="0"/>
          </a:p>
        </p:txBody>
      </p:sp>
      <p:sp>
        <p:nvSpPr>
          <p:cNvPr id="11" name="Text 9"/>
          <p:cNvSpPr/>
          <p:nvPr/>
        </p:nvSpPr>
        <p:spPr>
          <a:xfrm>
            <a:off x="1047750" y="4344640"/>
            <a:ext cx="4853051" cy="132588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C4658"/>
                </a:solidFill>
                <a:latin typeface="Public Sans" pitchFamily="34" charset="0"/>
                <a:ea typeface="Public Sans" pitchFamily="34" charset="-122"/>
                <a:cs typeface="Public Sans" pitchFamily="34" charset="-120"/>
              </a:rPr>
              <a:t>Belum ada masukan baru. Keputusan terakhir: ruang lingkup tanpa payment gateway/QRIS dan tanpa pengantaran.</a:t>
            </a:r>
            <a:endParaRPr lang="en-US" sz="1400" dirty="0"/>
          </a:p>
        </p:txBody>
      </p:sp>
      <p:sp>
        <p:nvSpPr>
          <p:cNvPr id="12" name="Shape 10"/>
          <p:cNvSpPr/>
          <p:nvPr/>
        </p:nvSpPr>
        <p:spPr>
          <a:xfrm>
            <a:off x="6200775" y="3792835"/>
            <a:ext cx="5175250" cy="2045990"/>
          </a:xfrm>
          <a:prstGeom prst="roundRect">
            <a:avLst>
              <a:gd name="adj" fmla="val 4811"/>
            </a:avLst>
          </a:prstGeom>
          <a:solidFill>
            <a:srgbClr val="FFFFFF"/>
          </a:solidFill>
          <a:ln w="6350">
            <a:solidFill>
              <a:srgbClr val="D9DEE7"/>
            </a:solidFill>
            <a:prstDash val="solid"/>
          </a:ln>
        </p:spPr>
      </p:sp>
      <p:sp>
        <p:nvSpPr>
          <p:cNvPr id="13" name="Text 11"/>
          <p:cNvSpPr/>
          <p:nvPr/>
        </p:nvSpPr>
        <p:spPr>
          <a:xfrm>
            <a:off x="6432550" y="4024610"/>
            <a:ext cx="485305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8233A"/>
                </a:solidFill>
                <a:latin typeface="Public Sans" pitchFamily="34" charset="0"/>
                <a:ea typeface="Public Sans" pitchFamily="34" charset="-122"/>
                <a:cs typeface="Public Sans" pitchFamily="34" charset="-120"/>
              </a:rPr>
              <a:t>Perubahan kebutuhan</a:t>
            </a:r>
            <a:endParaRPr lang="en-US" sz="1600" dirty="0"/>
          </a:p>
        </p:txBody>
      </p:sp>
      <p:sp>
        <p:nvSpPr>
          <p:cNvPr id="14" name="Text 12"/>
          <p:cNvSpPr/>
          <p:nvPr/>
        </p:nvSpPr>
        <p:spPr>
          <a:xfrm>
            <a:off x="6432550" y="4344640"/>
            <a:ext cx="4853051" cy="132588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C4658"/>
                </a:solidFill>
                <a:latin typeface="Public Sans" pitchFamily="34" charset="0"/>
                <a:ea typeface="Public Sans" pitchFamily="34" charset="-122"/>
                <a:cs typeface="Public Sans" pitchFamily="34" charset="-120"/>
              </a:rPr>
              <a:t>Tidak ada. Riwayat Revisi SRS baru memuat versi 1.0</a:t>
            </a:r>
            <a:endParaRPr lang="en-US" sz="1400" dirty="0"/>
          </a:p>
          <a:p>
            <a:pPr marL="0" indent="0" algn="l">
              <a:lnSpc>
                <a:spcPts val="2030"/>
              </a:lnSpc>
              <a:buNone/>
            </a:pPr>
            <a:r>
              <a:rPr lang="en-US" sz="1400" dirty="0">
                <a:solidFill>
                  <a:srgbClr val="3C4658"/>
                </a:solidFill>
                <a:latin typeface="Public Sans" pitchFamily="34" charset="0"/>
                <a:ea typeface="Public Sans" pitchFamily="34" charset="-122"/>
                <a:cs typeface="Public Sans" pitchFamily="34" charset="-120"/>
              </a:rPr>
              <a:t>Dampak: tidak ada ke SRS, Gantt, maupun biaya · Persetujuan SRS: belum</a:t>
            </a:r>
            <a:endParaRPr lang="en-US" sz="1400" dirty="0"/>
          </a:p>
        </p:txBody>
      </p:sp>
      <p:sp>
        <p:nvSpPr>
          <p:cNvPr id="15" name="Text 13"/>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5"/>
                </a:solidFill>
                <a:latin typeface="Public Sans" pitchFamily="34" charset="0"/>
                <a:ea typeface="Public Sans" pitchFamily="34" charset="-122"/>
                <a:cs typeface="Public Sans" pitchFamily="34" charset="-120"/>
              </a:rPr>
              <a:t>Kelompok 5 · Laporan Progres Minggu 5</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5"/>
                </a:solidFill>
                <a:latin typeface="Public Sans" pitchFamily="34" charset="0"/>
                <a:ea typeface="Public Sans" pitchFamily="34" charset="-122"/>
                <a:cs typeface="Public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8233A"/>
                </a:solidFill>
                <a:latin typeface="Domine" pitchFamily="18" charset="0"/>
                <a:ea typeface="Domine" pitchFamily="18" charset="-122"/>
                <a:cs typeface="Domine" pitchFamily="18" charset="-120"/>
              </a:rPr>
              <a:t>Kendala dan risiko</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21420"/>
          <a:ext cx="10553700" cy="2819821"/>
        </p:xfrm>
        <a:graphic>
          <a:graphicData uri="http://schemas.openxmlformats.org/drawingml/2006/table">
            <a:tbl>
              <a:tblPr/>
              <a:tblGrid>
                <a:gridCol w="1055370">
                  <a:extLst>
                    <a:ext uri="{9D8B030D-6E8A-4147-A177-3AD203B41FA5}">
                      <a16:colId xmlns:a16="http://schemas.microsoft.com/office/drawing/2014/main" val="20000"/>
                    </a:ext>
                  </a:extLst>
                </a:gridCol>
                <a:gridCol w="2955036">
                  <a:extLst>
                    <a:ext uri="{9D8B030D-6E8A-4147-A177-3AD203B41FA5}">
                      <a16:colId xmlns:a16="http://schemas.microsoft.com/office/drawing/2014/main" val="20001"/>
                    </a:ext>
                  </a:extLst>
                </a:gridCol>
                <a:gridCol w="1477518">
                  <a:extLst>
                    <a:ext uri="{9D8B030D-6E8A-4147-A177-3AD203B41FA5}">
                      <a16:colId xmlns:a16="http://schemas.microsoft.com/office/drawing/2014/main" val="20002"/>
                    </a:ext>
                  </a:extLst>
                </a:gridCol>
                <a:gridCol w="3588258">
                  <a:extLst>
                    <a:ext uri="{9D8B030D-6E8A-4147-A177-3AD203B41FA5}">
                      <a16:colId xmlns:a16="http://schemas.microsoft.com/office/drawing/2014/main" val="20003"/>
                    </a:ext>
                  </a:extLst>
                </a:gridCol>
                <a:gridCol w="1477518">
                  <a:extLst>
                    <a:ext uri="{9D8B030D-6E8A-4147-A177-3AD203B41FA5}">
                      <a16:colId xmlns:a16="http://schemas.microsoft.com/office/drawing/2014/main" val="20004"/>
                    </a:ext>
                  </a:extLst>
                </a:gridCol>
              </a:tblGrid>
              <a:tr h="359321">
                <a:tc>
                  <a:txBody>
                    <a:bodyPr/>
                    <a:lstStyle/>
                    <a:p>
                      <a:pPr marL="0" indent="0">
                        <a:lnSpc>
                          <a:spcPts val="1820"/>
                        </a:lnSpc>
                        <a:buNone/>
                      </a:pPr>
                      <a:r>
                        <a:rPr lang="en-US" sz="1300" b="1" dirty="0">
                          <a:solidFill>
                            <a:srgbClr val="3C4658"/>
                          </a:solidFill>
                          <a:latin typeface="Public Sans" pitchFamily="34" charset="0"/>
                          <a:ea typeface="Public Sans" pitchFamily="34" charset="-122"/>
                          <a:cs typeface="Public Sans" pitchFamily="34" charset="-120"/>
                        </a:rPr>
                        <a:t>ID</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BABEC3"/>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EC3"/>
                      </a:solidFill>
                      <a:prstDash val="solid"/>
                      <a:round/>
                      <a:headEnd type="none" w="med" len="med"/>
                      <a:tailEnd type="none" w="med" len="med"/>
                    </a:lnB>
                    <a:solidFill>
                      <a:srgbClr val="E9EEF5"/>
                    </a:solidFill>
                  </a:tcPr>
                </a:tc>
                <a:tc>
                  <a:txBody>
                    <a:bodyPr/>
                    <a:lstStyle/>
                    <a:p>
                      <a:pPr marL="0" indent="0">
                        <a:lnSpc>
                          <a:spcPts val="1820"/>
                        </a:lnSpc>
                        <a:buNone/>
                      </a:pPr>
                      <a:r>
                        <a:rPr lang="en-US" sz="1300" b="1" dirty="0">
                          <a:solidFill>
                            <a:srgbClr val="3C4658"/>
                          </a:solidFill>
                          <a:latin typeface="Public Sans" pitchFamily="34" charset="0"/>
                          <a:ea typeface="Public Sans" pitchFamily="34" charset="-122"/>
                          <a:cs typeface="Public Sans" pitchFamily="34" charset="-120"/>
                        </a:rPr>
                        <a:t>Kendala / risiko</a:t>
                      </a:r>
                      <a:endParaRPr lang="en-US" sz="1300" dirty="0">
                        <a:latin typeface="Public Sans" charset="0"/>
                        <a:ea typeface="Public Sans" charset="0"/>
                        <a:cs typeface="Public Sans" charset="0"/>
                      </a:endParaRPr>
                    </a:p>
                  </a:txBody>
                  <a:tcPr marL="57785" marR="57785" marT="57785" marB="57785">
                    <a:lnL w="12700" cap="flat" cmpd="sng" algn="ctr">
                      <a:solidFill>
                        <a:srgbClr val="BABEC3"/>
                      </a:solidFill>
                      <a:prstDash val="solid"/>
                      <a:round/>
                      <a:headEnd type="none" w="med" len="med"/>
                      <a:tailEnd type="none" w="med" len="med"/>
                    </a:lnL>
                    <a:lnR w="12700" cap="flat" cmpd="sng" algn="ctr">
                      <a:solidFill>
                        <a:srgbClr val="BABEC3"/>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EC3"/>
                      </a:solidFill>
                      <a:prstDash val="solid"/>
                      <a:round/>
                      <a:headEnd type="none" w="med" len="med"/>
                      <a:tailEnd type="none" w="med" len="med"/>
                    </a:lnB>
                    <a:solidFill>
                      <a:srgbClr val="E9EEF5"/>
                    </a:solidFill>
                  </a:tcPr>
                </a:tc>
                <a:tc>
                  <a:txBody>
                    <a:bodyPr/>
                    <a:lstStyle/>
                    <a:p>
                      <a:pPr marL="0" indent="0">
                        <a:lnSpc>
                          <a:spcPts val="1820"/>
                        </a:lnSpc>
                        <a:buNone/>
                      </a:pPr>
                      <a:r>
                        <a:rPr lang="en-US" sz="1300" b="1" dirty="0">
                          <a:solidFill>
                            <a:srgbClr val="3C4658"/>
                          </a:solidFill>
                          <a:latin typeface="Public Sans" pitchFamily="34" charset="0"/>
                          <a:ea typeface="Public Sans" pitchFamily="34" charset="-122"/>
                          <a:cs typeface="Public Sans" pitchFamily="34" charset="-120"/>
                        </a:rPr>
                        <a:t>Dampak</a:t>
                      </a:r>
                      <a:endParaRPr lang="en-US" sz="1300" dirty="0">
                        <a:latin typeface="Public Sans" charset="0"/>
                        <a:ea typeface="Public Sans" charset="0"/>
                        <a:cs typeface="Public Sans" charset="0"/>
                      </a:endParaRPr>
                    </a:p>
                  </a:txBody>
                  <a:tcPr marL="57785" marR="57785" marT="57785" marB="57785">
                    <a:lnL w="12700" cap="flat" cmpd="sng" algn="ctr">
                      <a:solidFill>
                        <a:srgbClr val="BABEC3"/>
                      </a:solidFill>
                      <a:prstDash val="solid"/>
                      <a:round/>
                      <a:headEnd type="none" w="med" len="med"/>
                      <a:tailEnd type="none" w="med" len="med"/>
                    </a:lnL>
                    <a:lnR w="12700" cap="flat" cmpd="sng" algn="ctr">
                      <a:solidFill>
                        <a:srgbClr val="BABEC3"/>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EC3"/>
                      </a:solidFill>
                      <a:prstDash val="solid"/>
                      <a:round/>
                      <a:headEnd type="none" w="med" len="med"/>
                      <a:tailEnd type="none" w="med" len="med"/>
                    </a:lnB>
                    <a:solidFill>
                      <a:srgbClr val="E9EEF5"/>
                    </a:solidFill>
                  </a:tcPr>
                </a:tc>
                <a:tc>
                  <a:txBody>
                    <a:bodyPr/>
                    <a:lstStyle/>
                    <a:p>
                      <a:pPr marL="0" indent="0">
                        <a:lnSpc>
                          <a:spcPts val="1820"/>
                        </a:lnSpc>
                        <a:buNone/>
                      </a:pPr>
                      <a:r>
                        <a:rPr lang="en-US" sz="1300" b="1" dirty="0">
                          <a:solidFill>
                            <a:srgbClr val="3C4658"/>
                          </a:solidFill>
                          <a:latin typeface="Public Sans" pitchFamily="34" charset="0"/>
                          <a:ea typeface="Public Sans" pitchFamily="34" charset="-122"/>
                          <a:cs typeface="Public Sans" pitchFamily="34" charset="-120"/>
                        </a:rPr>
                        <a:t>Tindakan</a:t>
                      </a:r>
                      <a:endParaRPr lang="en-US" sz="1300" dirty="0">
                        <a:latin typeface="Public Sans" charset="0"/>
                        <a:ea typeface="Public Sans" charset="0"/>
                        <a:cs typeface="Public Sans" charset="0"/>
                      </a:endParaRPr>
                    </a:p>
                  </a:txBody>
                  <a:tcPr marL="57785" marR="57785" marT="57785" marB="57785">
                    <a:lnL w="12700" cap="flat" cmpd="sng" algn="ctr">
                      <a:solidFill>
                        <a:srgbClr val="BABEC3"/>
                      </a:solidFill>
                      <a:prstDash val="solid"/>
                      <a:round/>
                      <a:headEnd type="none" w="med" len="med"/>
                      <a:tailEnd type="none" w="med" len="med"/>
                    </a:lnL>
                    <a:lnR w="12700" cap="flat" cmpd="sng" algn="ctr">
                      <a:solidFill>
                        <a:srgbClr val="BABEC3"/>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EC3"/>
                      </a:solidFill>
                      <a:prstDash val="solid"/>
                      <a:round/>
                      <a:headEnd type="none" w="med" len="med"/>
                      <a:tailEnd type="none" w="med" len="med"/>
                    </a:lnB>
                    <a:solidFill>
                      <a:srgbClr val="E9EEF5"/>
                    </a:solidFill>
                  </a:tcPr>
                </a:tc>
                <a:tc>
                  <a:txBody>
                    <a:bodyPr/>
                    <a:lstStyle/>
                    <a:p>
                      <a:pPr marL="0" indent="0">
                        <a:lnSpc>
                          <a:spcPts val="1820"/>
                        </a:lnSpc>
                        <a:buNone/>
                      </a:pPr>
                      <a:r>
                        <a:rPr lang="en-US" sz="1300" b="1" dirty="0">
                          <a:solidFill>
                            <a:srgbClr val="3C4658"/>
                          </a:solidFill>
                          <a:latin typeface="Public Sans" pitchFamily="34" charset="0"/>
                          <a:ea typeface="Public Sans" pitchFamily="34" charset="-122"/>
                          <a:cs typeface="Public Sans" pitchFamily="34" charset="-120"/>
                        </a:rPr>
                        <a:t>PIC</a:t>
                      </a:r>
                      <a:endParaRPr lang="en-US" sz="1300" dirty="0">
                        <a:latin typeface="Public Sans" charset="0"/>
                        <a:ea typeface="Public Sans" charset="0"/>
                        <a:cs typeface="Public Sans" charset="0"/>
                      </a:endParaRPr>
                    </a:p>
                  </a:txBody>
                  <a:tcPr marL="57785" marR="57785" marT="57785" marB="57785">
                    <a:lnL w="12700" cap="flat" cmpd="sng" algn="ctr">
                      <a:solidFill>
                        <a:srgbClr val="BABEC3"/>
                      </a:solidFill>
                      <a:prstDash val="solid"/>
                      <a:round/>
                      <a:headEnd type="none" w="med" len="med"/>
                      <a:tailEnd type="none" w="med" len="med"/>
                    </a:lnL>
                    <a:lnR w="12700" cap="flat" cmpd="sng" algn="ctr">
                      <a:solidFill>
                        <a:srgbClr val="BABEC3"/>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EC3"/>
                      </a:solidFill>
                      <a:prstDash val="solid"/>
                      <a:round/>
                      <a:headEnd type="none" w="med" len="med"/>
                      <a:tailEnd type="none" w="med" len="med"/>
                    </a:lnB>
                    <a:solidFill>
                      <a:srgbClr val="E9EEF5"/>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R-01</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EC3"/>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Pemilik sulit ditemui untuk review SRS dan tanda tangan Lampiran B</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EC3"/>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Tinggi</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EC3"/>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Sepakati jadwal review di luar 10.00–16.00 sebelum 08-11</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EC3"/>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PM</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EC3"/>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R-08 (baru)</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SRS Bag. 5–10 masih contoh template; KNF masih soal stok barang</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Tinggi</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Tulis ulang dari RD Bag. 6: menu &lt; 3 detik, rekap &lt; 1 menit, ketersediaan 99%</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SA</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R-09 (baru)</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Tabel 2.2 belum memuat O-01, O-02; Lampiran A belum berisi notulen</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Sedang</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Lengkapi tabel dan lampiran minggu depan</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SA</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R-05</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Permintaan di luar ruang lingkup (QRIS, pengantaran)</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Sedang</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SRS Bag. 1.2 menegaskan batasan; catat sebagai pengembangan lanjutan</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SA</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Shape 1"/>
          <p:cNvSpPr/>
          <p:nvPr/>
        </p:nvSpPr>
        <p:spPr>
          <a:xfrm>
            <a:off x="815975" y="4983480"/>
            <a:ext cx="10560050" cy="990550"/>
          </a:xfrm>
          <a:prstGeom prst="roundRect">
            <a:avLst>
              <a:gd name="adj" fmla="val 7372"/>
            </a:avLst>
          </a:prstGeom>
          <a:solidFill>
            <a:srgbClr val="FFFFFF"/>
          </a:solidFill>
          <a:ln w="6350">
            <a:solidFill>
              <a:srgbClr val="D9DEE7"/>
            </a:solidFill>
            <a:prstDash val="solid"/>
          </a:ln>
        </p:spPr>
      </p:sp>
      <p:sp>
        <p:nvSpPr>
          <p:cNvPr id="5" name="Text 2"/>
          <p:cNvSpPr/>
          <p:nvPr/>
        </p:nvSpPr>
        <p:spPr>
          <a:xfrm>
            <a:off x="1022350" y="5184648"/>
            <a:ext cx="10451719"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8233A"/>
                </a:solidFill>
                <a:latin typeface="Public Sans" pitchFamily="34" charset="0"/>
                <a:ea typeface="Public Sans" pitchFamily="34" charset="-122"/>
                <a:cs typeface="Public Sans" pitchFamily="34" charset="-120"/>
              </a:rPr>
              <a:t>Bantuan yang dibutuhkan dari dosen</a:t>
            </a:r>
            <a:endParaRPr lang="en-US" sz="1600" dirty="0"/>
          </a:p>
        </p:txBody>
      </p:sp>
      <p:sp>
        <p:nvSpPr>
          <p:cNvPr id="6" name="Text 3"/>
          <p:cNvSpPr/>
          <p:nvPr/>
        </p:nvSpPr>
        <p:spPr>
          <a:xfrm>
            <a:off x="1022350" y="5504688"/>
            <a:ext cx="10451719" cy="28317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C4658"/>
                </a:solidFill>
                <a:latin typeface="Public Sans" pitchFamily="34" charset="0"/>
                <a:ea typeface="Public Sans" pitchFamily="34" charset="-122"/>
                <a:cs typeface="Public Sans" pitchFamily="34" charset="-120"/>
              </a:rPr>
              <a:t>Tidak ada. Masukan dosen atas draf SRS Bag. 1–4 sebelum Bag. 5–10 difinalkan akan sangat membantu.</a:t>
            </a:r>
            <a:endParaRPr lang="en-US" sz="1400" dirty="0"/>
          </a:p>
        </p:txBody>
      </p:sp>
      <p:sp>
        <p:nvSpPr>
          <p:cNvPr id="7" name="Text 4"/>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5"/>
                </a:solidFill>
                <a:latin typeface="Public Sans" pitchFamily="34" charset="0"/>
                <a:ea typeface="Public Sans" pitchFamily="34" charset="-122"/>
                <a:cs typeface="Public Sans" pitchFamily="34" charset="-120"/>
              </a:rPr>
              <a:t>Kelompok 5 · Laporan Progres Minggu 5</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5"/>
                </a:solidFill>
                <a:latin typeface="Public Sans" pitchFamily="34" charset="0"/>
                <a:ea typeface="Public Sans" pitchFamily="34" charset="-122"/>
                <a:cs typeface="Public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8233A"/>
                </a:solidFill>
                <a:latin typeface="Domine" pitchFamily="18" charset="0"/>
                <a:ea typeface="Domine" pitchFamily="18" charset="-122"/>
                <a:cs typeface="Domine" pitchFamily="18" charset="-120"/>
              </a:rPr>
              <a:t>Rencana minggu depan</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3052056964"/>
              </p:ext>
            </p:extLst>
          </p:nvPr>
        </p:nvGraphicFramePr>
        <p:xfrm>
          <a:off x="825500" y="1521420"/>
          <a:ext cx="6862217" cy="3048421"/>
        </p:xfrm>
        <a:graphic>
          <a:graphicData uri="http://schemas.openxmlformats.org/drawingml/2006/table">
            <a:tbl>
              <a:tblPr/>
              <a:tblGrid>
                <a:gridCol w="1097955">
                  <a:extLst>
                    <a:ext uri="{9D8B030D-6E8A-4147-A177-3AD203B41FA5}">
                      <a16:colId xmlns:a16="http://schemas.microsoft.com/office/drawing/2014/main" val="20000"/>
                    </a:ext>
                  </a:extLst>
                </a:gridCol>
                <a:gridCol w="3156620">
                  <a:extLst>
                    <a:ext uri="{9D8B030D-6E8A-4147-A177-3AD203B41FA5}">
                      <a16:colId xmlns:a16="http://schemas.microsoft.com/office/drawing/2014/main" val="20001"/>
                    </a:ext>
                  </a:extLst>
                </a:gridCol>
                <a:gridCol w="1372443">
                  <a:extLst>
                    <a:ext uri="{9D8B030D-6E8A-4147-A177-3AD203B41FA5}">
                      <a16:colId xmlns:a16="http://schemas.microsoft.com/office/drawing/2014/main" val="20002"/>
                    </a:ext>
                  </a:extLst>
                </a:gridCol>
                <a:gridCol w="1235199">
                  <a:extLst>
                    <a:ext uri="{9D8B030D-6E8A-4147-A177-3AD203B41FA5}">
                      <a16:colId xmlns:a16="http://schemas.microsoft.com/office/drawing/2014/main" val="20003"/>
                    </a:ext>
                  </a:extLst>
                </a:gridCol>
              </a:tblGrid>
              <a:tr h="359321">
                <a:tc>
                  <a:txBody>
                    <a:bodyPr/>
                    <a:lstStyle/>
                    <a:p>
                      <a:pPr marL="0" indent="0">
                        <a:lnSpc>
                          <a:spcPts val="1820"/>
                        </a:lnSpc>
                        <a:buNone/>
                      </a:pPr>
                      <a:r>
                        <a:rPr lang="en-US" sz="1300" b="1" dirty="0">
                          <a:solidFill>
                            <a:srgbClr val="3C4658"/>
                          </a:solidFill>
                          <a:latin typeface="Public Sans" pitchFamily="34" charset="0"/>
                          <a:ea typeface="Public Sans" pitchFamily="34" charset="-122"/>
                          <a:cs typeface="Public Sans" pitchFamily="34" charset="-120"/>
                        </a:rPr>
                        <a:t>Kode WBS</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BABEC3"/>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EC3"/>
                      </a:solidFill>
                      <a:prstDash val="solid"/>
                      <a:round/>
                      <a:headEnd type="none" w="med" len="med"/>
                      <a:tailEnd type="none" w="med" len="med"/>
                    </a:lnB>
                    <a:solidFill>
                      <a:srgbClr val="E9EEF5"/>
                    </a:solidFill>
                  </a:tcPr>
                </a:tc>
                <a:tc>
                  <a:txBody>
                    <a:bodyPr/>
                    <a:lstStyle/>
                    <a:p>
                      <a:pPr marL="0" indent="0">
                        <a:lnSpc>
                          <a:spcPts val="1820"/>
                        </a:lnSpc>
                        <a:buNone/>
                      </a:pPr>
                      <a:r>
                        <a:rPr lang="en-US" sz="1300" b="1" dirty="0">
                          <a:solidFill>
                            <a:srgbClr val="3C4658"/>
                          </a:solidFill>
                          <a:latin typeface="Public Sans" pitchFamily="34" charset="0"/>
                          <a:ea typeface="Public Sans" pitchFamily="34" charset="-122"/>
                          <a:cs typeface="Public Sans" pitchFamily="34" charset="-120"/>
                        </a:rPr>
                        <a:t>Tugas</a:t>
                      </a:r>
                      <a:endParaRPr lang="en-US" sz="1300" dirty="0">
                        <a:latin typeface="Public Sans" charset="0"/>
                        <a:ea typeface="Public Sans" charset="0"/>
                        <a:cs typeface="Public Sans" charset="0"/>
                      </a:endParaRPr>
                    </a:p>
                  </a:txBody>
                  <a:tcPr marL="57785" marR="57785" marT="57785" marB="57785">
                    <a:lnL w="12700" cap="flat" cmpd="sng" algn="ctr">
                      <a:solidFill>
                        <a:srgbClr val="BABEC3"/>
                      </a:solidFill>
                      <a:prstDash val="solid"/>
                      <a:round/>
                      <a:headEnd type="none" w="med" len="med"/>
                      <a:tailEnd type="none" w="med" len="med"/>
                    </a:lnL>
                    <a:lnR w="12700" cap="flat" cmpd="sng" algn="ctr">
                      <a:solidFill>
                        <a:srgbClr val="BABEC3"/>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EC3"/>
                      </a:solidFill>
                      <a:prstDash val="solid"/>
                      <a:round/>
                      <a:headEnd type="none" w="med" len="med"/>
                      <a:tailEnd type="none" w="med" len="med"/>
                    </a:lnB>
                    <a:solidFill>
                      <a:srgbClr val="E9EEF5"/>
                    </a:solidFill>
                  </a:tcPr>
                </a:tc>
                <a:tc>
                  <a:txBody>
                    <a:bodyPr/>
                    <a:lstStyle/>
                    <a:p>
                      <a:pPr marL="0" indent="0">
                        <a:lnSpc>
                          <a:spcPts val="1820"/>
                        </a:lnSpc>
                        <a:buNone/>
                      </a:pPr>
                      <a:r>
                        <a:rPr lang="en-US" sz="1300" b="1" dirty="0">
                          <a:solidFill>
                            <a:srgbClr val="3C4658"/>
                          </a:solidFill>
                          <a:latin typeface="Public Sans" pitchFamily="34" charset="0"/>
                          <a:ea typeface="Public Sans" pitchFamily="34" charset="-122"/>
                          <a:cs typeface="Public Sans" pitchFamily="34" charset="-120"/>
                        </a:rPr>
                        <a:t>PIC</a:t>
                      </a:r>
                      <a:endParaRPr lang="en-US" sz="1300" dirty="0">
                        <a:latin typeface="Public Sans" charset="0"/>
                        <a:ea typeface="Public Sans" charset="0"/>
                        <a:cs typeface="Public Sans" charset="0"/>
                      </a:endParaRPr>
                    </a:p>
                  </a:txBody>
                  <a:tcPr marL="57785" marR="57785" marT="57785" marB="57785">
                    <a:lnL w="12700" cap="flat" cmpd="sng" algn="ctr">
                      <a:solidFill>
                        <a:srgbClr val="BABEC3"/>
                      </a:solidFill>
                      <a:prstDash val="solid"/>
                      <a:round/>
                      <a:headEnd type="none" w="med" len="med"/>
                      <a:tailEnd type="none" w="med" len="med"/>
                    </a:lnL>
                    <a:lnR w="12700" cap="flat" cmpd="sng" algn="ctr">
                      <a:solidFill>
                        <a:srgbClr val="BABEC3"/>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EC3"/>
                      </a:solidFill>
                      <a:prstDash val="solid"/>
                      <a:round/>
                      <a:headEnd type="none" w="med" len="med"/>
                      <a:tailEnd type="none" w="med" len="med"/>
                    </a:lnB>
                    <a:solidFill>
                      <a:srgbClr val="E9EEF5"/>
                    </a:solidFill>
                  </a:tcPr>
                </a:tc>
                <a:tc>
                  <a:txBody>
                    <a:bodyPr/>
                    <a:lstStyle/>
                    <a:p>
                      <a:pPr marL="0" indent="0">
                        <a:lnSpc>
                          <a:spcPts val="1820"/>
                        </a:lnSpc>
                        <a:buNone/>
                      </a:pPr>
                      <a:r>
                        <a:rPr lang="en-US" sz="1300" b="1" dirty="0">
                          <a:solidFill>
                            <a:srgbClr val="3C4658"/>
                          </a:solidFill>
                          <a:latin typeface="Public Sans" pitchFamily="34" charset="0"/>
                          <a:ea typeface="Public Sans" pitchFamily="34" charset="-122"/>
                          <a:cs typeface="Public Sans" pitchFamily="34" charset="-120"/>
                        </a:rPr>
                        <a:t>Target</a:t>
                      </a:r>
                      <a:endParaRPr lang="en-US" sz="1300" dirty="0">
                        <a:latin typeface="Public Sans" charset="0"/>
                        <a:ea typeface="Public Sans" charset="0"/>
                        <a:cs typeface="Public Sans" charset="0"/>
                      </a:endParaRPr>
                    </a:p>
                  </a:txBody>
                  <a:tcPr marL="57785" marR="57785" marT="57785" marB="57785">
                    <a:lnL w="12700" cap="flat" cmpd="sng" algn="ctr">
                      <a:solidFill>
                        <a:srgbClr val="BABEC3"/>
                      </a:solidFill>
                      <a:prstDash val="solid"/>
                      <a:round/>
                      <a:headEnd type="none" w="med" len="med"/>
                      <a:tailEnd type="none" w="med" len="med"/>
                    </a:lnL>
                    <a:lnR w="12700" cap="flat" cmpd="sng" algn="ctr">
                      <a:solidFill>
                        <a:srgbClr val="BABEC3"/>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EC3"/>
                      </a:solidFill>
                      <a:prstDash val="solid"/>
                      <a:round/>
                      <a:headEnd type="none" w="med" len="med"/>
                      <a:tailEnd type="none" w="med" len="med"/>
                    </a:lnB>
                    <a:solidFill>
                      <a:srgbClr val="E9EEF5"/>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4.2</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EC3"/>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SRS Bag. 5: KNF terukur Kedaiku (kinerja, ketersediaan, keamanan, kompatibilitas)</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EC3"/>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charset="0"/>
                        </a:rPr>
                        <a:t>SA</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EC3"/>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01-11</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EC3"/>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4.1</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Tindak lanjut Revisi: O-01, O-02 di Tabel 2.2 dan isi Lampiran A</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charset="0"/>
                        </a:rPr>
                        <a:t>SA</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01-11</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4.2</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SRS Bag. 6–9: data, antarmuka, MoSCoW ke sprint, matriks keterlacakan</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charset="0"/>
                        </a:rPr>
                        <a:t>SA</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01-11</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4.2</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Review SRS bersama pemilik dan tanda tangan Lampiran B</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charset="0"/>
                        </a:rPr>
                        <a:t>PM</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3C4658"/>
                          </a:solidFill>
                          <a:latin typeface="Public Sans" pitchFamily="34" charset="0"/>
                          <a:ea typeface="Public Sans" pitchFamily="34" charset="-122"/>
                          <a:cs typeface="Public Sans" pitchFamily="34" charset="-120"/>
                        </a:rPr>
                        <a:t>01-11</a:t>
                      </a:r>
                      <a:endParaRPr lang="en-US" sz="1300" dirty="0">
                        <a:latin typeface="Public Sans" charset="0"/>
                        <a:ea typeface="Public Sans" charset="0"/>
                        <a:cs typeface="Public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Shape 1"/>
          <p:cNvSpPr/>
          <p:nvPr/>
        </p:nvSpPr>
        <p:spPr>
          <a:xfrm>
            <a:off x="7941717" y="1508720"/>
            <a:ext cx="3437434" cy="4333280"/>
          </a:xfrm>
          <a:prstGeom prst="roundRect">
            <a:avLst>
              <a:gd name="adj" fmla="val 2956"/>
            </a:avLst>
          </a:prstGeom>
          <a:solidFill>
            <a:srgbClr val="18233A"/>
          </a:solidFill>
          <a:ln/>
        </p:spPr>
      </p:sp>
      <p:sp>
        <p:nvSpPr>
          <p:cNvPr id="5" name="Text 2"/>
          <p:cNvSpPr/>
          <p:nvPr/>
        </p:nvSpPr>
        <p:spPr>
          <a:xfrm>
            <a:off x="8195717" y="1762720"/>
            <a:ext cx="301731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DB8E8"/>
                </a:solidFill>
                <a:latin typeface="Public Sans" pitchFamily="34" charset="0"/>
                <a:ea typeface="Public Sans" pitchFamily="34" charset="-122"/>
                <a:cs typeface="Public Sans" pitchFamily="34" charset="-120"/>
              </a:rPr>
              <a:t>JATUH TEMPO</a:t>
            </a:r>
            <a:endParaRPr lang="en-US" sz="1200" dirty="0"/>
          </a:p>
        </p:txBody>
      </p:sp>
      <p:sp>
        <p:nvSpPr>
          <p:cNvPr id="6" name="Text 3"/>
          <p:cNvSpPr/>
          <p:nvPr/>
        </p:nvSpPr>
        <p:spPr>
          <a:xfrm>
            <a:off x="8195717" y="2077641"/>
            <a:ext cx="3017317"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6F5F1"/>
                </a:solidFill>
                <a:latin typeface="Domine" pitchFamily="18" charset="0"/>
                <a:ea typeface="Domine" pitchFamily="18" charset="-122"/>
                <a:cs typeface="Domine" pitchFamily="18" charset="-120"/>
              </a:rPr>
              <a:t>SRS </a:t>
            </a:r>
            <a:r>
              <a:rPr lang="en-US" sz="2200" b="1" dirty="0" err="1">
                <a:solidFill>
                  <a:srgbClr val="F6F5F1"/>
                </a:solidFill>
                <a:latin typeface="Domine" pitchFamily="18" charset="0"/>
                <a:ea typeface="Domine" pitchFamily="18" charset="-122"/>
                <a:cs typeface="Domine" pitchFamily="18" charset="-120"/>
              </a:rPr>
              <a:t>Versi</a:t>
            </a:r>
            <a:r>
              <a:rPr lang="en-US" sz="2200" b="1" dirty="0">
                <a:solidFill>
                  <a:srgbClr val="F6F5F1"/>
                </a:solidFill>
                <a:latin typeface="Domine" pitchFamily="18" charset="0"/>
                <a:ea typeface="Domine" pitchFamily="18" charset="-122"/>
                <a:cs typeface="Domine" pitchFamily="18" charset="-120"/>
              </a:rPr>
              <a:t> 1.1 (M3)</a:t>
            </a:r>
            <a:endParaRPr lang="en-US" sz="2200" dirty="0"/>
          </a:p>
        </p:txBody>
      </p:sp>
      <p:sp>
        <p:nvSpPr>
          <p:cNvPr id="7" name="Text 4"/>
          <p:cNvSpPr/>
          <p:nvPr/>
        </p:nvSpPr>
        <p:spPr>
          <a:xfrm>
            <a:off x="8195717" y="2514501"/>
            <a:ext cx="301731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Public Sans" pitchFamily="34" charset="0"/>
                <a:ea typeface="Public Sans" pitchFamily="34" charset="-122"/>
                <a:cs typeface="Public Sans" pitchFamily="34" charset="-120"/>
              </a:rPr>
              <a:t>Minggu 6 · 02-11-2026</a:t>
            </a:r>
            <a:endParaRPr lang="en-US" sz="1400" dirty="0"/>
          </a:p>
        </p:txBody>
      </p:sp>
      <p:sp>
        <p:nvSpPr>
          <p:cNvPr id="8" name="Text 5"/>
          <p:cNvSpPr/>
          <p:nvPr/>
        </p:nvSpPr>
        <p:spPr>
          <a:xfrm>
            <a:off x="8195717" y="2864991"/>
            <a:ext cx="3017317" cy="11887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Public Sans" pitchFamily="34" charset="0"/>
                <a:ea typeface="Public Sans" pitchFamily="34" charset="-122"/>
                <a:cs typeface="Public Sans" pitchFamily="34" charset="-120"/>
              </a:rPr>
              <a:t>Pertemuan klien: belum dijadwalkan; diusulkan review SRS sebelum 08-11-2026</a:t>
            </a:r>
            <a:endParaRPr lang="en-US" sz="1400" dirty="0"/>
          </a:p>
        </p:txBody>
      </p:sp>
      <p:sp>
        <p:nvSpPr>
          <p:cNvPr id="9" name="Text 6"/>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5"/>
                </a:solidFill>
                <a:latin typeface="Public Sans" pitchFamily="34" charset="0"/>
                <a:ea typeface="Public Sans" pitchFamily="34" charset="-122"/>
                <a:cs typeface="Public Sans" pitchFamily="34" charset="-120"/>
              </a:rPr>
              <a:t>Kelompok 5 · Laporan Progres Minggu 5</a:t>
            </a:r>
            <a:endParaRPr lang="en-US" sz="1200" dirty="0"/>
          </a:p>
        </p:txBody>
      </p:sp>
      <p:sp>
        <p:nvSpPr>
          <p:cNvPr id="10" name="Text 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385"/>
                </a:solidFill>
                <a:latin typeface="Public Sans" pitchFamily="34" charset="0"/>
                <a:ea typeface="Public Sans" pitchFamily="34" charset="-122"/>
                <a:cs typeface="Public Sans" pitchFamily="34" charset="-120"/>
              </a:rPr>
              <a:t>8</a:t>
            </a:r>
            <a:endParaRPr lang="en-US" sz="1200" dirty="0"/>
          </a:p>
        </p:txBody>
      </p:sp>
    </p:spTree>
  </p:cSld>
  <p:clrMapOvr>
    <a:masterClrMapping/>
  </p:clrMapOvr>
</p:sld>
</file>

<file path=ppt/theme/theme1.xml><?xml version="1.0" encoding="utf-8"?>
<a:theme xmlns:a="http://schemas.openxmlformats.org/drawingml/2006/main" name="Template Laporan Progres Mingguan PPSI">
  <a:themeElements>
    <a:clrScheme name="Template Laporan Progres Mingguan PPSI">
      <a:dk1>
        <a:srgbClr val="18233A"/>
      </a:dk1>
      <a:lt1>
        <a:srgbClr val="F6F5F1"/>
      </a:lt1>
      <a:dk2>
        <a:srgbClr val="505868"/>
      </a:dk2>
      <a:lt2>
        <a:srgbClr val="E0E0DF"/>
      </a:lt2>
      <a:accent1>
        <a:srgbClr val="2C64C6"/>
      </a:accent1>
      <a:accent2>
        <a:srgbClr val="9DB8E8"/>
      </a:accent2>
      <a:accent3>
        <a:srgbClr val="6B7385"/>
      </a:accent3>
      <a:accent4>
        <a:srgbClr val="3C4658"/>
      </a:accent4>
      <a:accent5>
        <a:srgbClr val="C9D3E3"/>
      </a:accent5>
      <a:accent6>
        <a:srgbClr val="DCE7F8"/>
      </a:accent6>
      <a:hlink>
        <a:srgbClr val="0563C1"/>
      </a:hlink>
      <a:folHlink>
        <a:srgbClr val="954F72"/>
      </a:folHlink>
    </a:clrScheme>
    <a:fontScheme name="Template Laporan Progres Mingguan PPSI">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1264</Words>
  <Application>Microsoft Office PowerPoint</Application>
  <PresentationFormat>Widescreen</PresentationFormat>
  <Paragraphs>202</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Domine</vt:lpstr>
      <vt:lpstr>Public Sans</vt:lpstr>
      <vt:lpstr>Template Laporan Progres Mingguan PPSI</vt:lpstr>
      <vt:lpstr>Laporan Progres Minggu ke-5</vt:lpstr>
      <vt:lpstr>Status proyek minggu ini</vt:lpstr>
      <vt:lpstr>Rencana vs realisasi minggu ini</vt:lpstr>
      <vt:lpstr>Hasil kerja minggu ini</vt:lpstr>
      <vt:lpstr>Kontribusi anggota</vt:lpstr>
      <vt:lpstr>Komunikasi dengan klien</vt:lpstr>
      <vt:lpstr>Kendala dan risiko</vt:lpstr>
      <vt:lpstr>Rencana minggu depan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Laporan Progres Mingguan PPSI</dc:title>
  <dc:subject/>
  <dc:creator>Avinseno</dc:creator>
  <cp:lastModifiedBy>ASUS G614</cp:lastModifiedBy>
  <cp:revision>6</cp:revision>
  <dcterms:created xsi:type="dcterms:W3CDTF">2026-10-19T02:18:56Z</dcterms:created>
  <dcterms:modified xsi:type="dcterms:W3CDTF">2026-10-26T06:15:01Z</dcterms:modified>
</cp:coreProperties>
</file>